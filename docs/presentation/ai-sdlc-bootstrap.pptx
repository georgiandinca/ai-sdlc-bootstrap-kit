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92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9471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01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436065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1488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AI as a governed collaborator</a:t>
            </a:r>
            <a:endParaRPr lang="en-US" sz="4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across the SDLC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640080" y="41605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E3E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drop-in, bootstrapped operating model, human-owned.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640080" y="502920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640080" y="5138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AI-SDLC BOOTSTRAP KIT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59893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BBFC8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Delivery LT Circle  ·  github.com/georgiandinca/ai-sdlc-bootstrap-kit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AI is in every workflow — but ungoverned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303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  <a:effectLst>
            <a:outerShdw blurRad="1270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 dirty="0"/>
          </a:p>
        </p:txBody>
      </p:sp>
      <p:sp>
        <p:nvSpPr>
          <p:cNvPr id="5" name="Text 3"/>
          <p:cNvSpPr/>
          <p:nvPr/>
        </p:nvSpPr>
        <p:spPr>
          <a:xfrm>
            <a:off x="932688" y="2002536"/>
            <a:ext cx="4681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Ad-hoc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4597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Everyone prompts differently. No shared baseline, no repeatable quality.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783080"/>
            <a:ext cx="52303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  <a:effectLst>
            <a:outerShdw blurRad="1270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6492240" y="2002536"/>
            <a:ext cx="4681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Ungrounded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4597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Agents answer from memory and guess APIs instead of the project's own truth.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538728"/>
            <a:ext cx="52303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  <a:effectLst>
            <a:outerShdw blurRad="1270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932688" y="3758184"/>
            <a:ext cx="4681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Unattributable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932688" y="4215384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edits load-bearing artefacts with no named owner and no reviewable trail.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99632" y="3538728"/>
            <a:ext cx="52303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  <a:effectLst>
            <a:outerShdw blurRad="1270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6492240" y="3758184"/>
            <a:ext cx="4681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Reinvented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215384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project rebuilds the same governance from scratch — and it drifts.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340096"/>
            <a:ext cx="10911535" cy="694944"/>
          </a:xfrm>
          <a:prstGeom prst="rect">
            <a:avLst/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914400" y="5340096"/>
            <a:ext cx="1036289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MIT (Project NANDA, 2025): </a:t>
            </a:r>
            <a:r>
              <a:rPr lang="en-US" sz="13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~95% of enterprise GenAI pilots delivered no measurable P&amp;L impact. Adoption ≠ transformation.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02 / 19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operating model, bootstrapped into any repo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began on a whiteboard. The kit turns that sketch into a runnable scaffold — ground the AI in the project's own truth, scope each role's capabilities, and gate the output.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621024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561806" y="34747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›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874188" y="3017520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3057068" y="3200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57068" y="3621024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Ingest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795914" y="34747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›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108296" y="3017520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5291176" y="3200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91176" y="3621024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Knowledge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graph · RAG · vector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030022" y="34747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›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7342403" y="3017520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8" name="Text 16"/>
          <p:cNvSpPr/>
          <p:nvPr/>
        </p:nvSpPr>
        <p:spPr>
          <a:xfrm>
            <a:off x="7525283" y="3200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25283" y="3621024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Roles × Skills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× MCP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264129" y="34747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›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9576511" y="3017520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E90130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22" name="Text 20"/>
          <p:cNvSpPr/>
          <p:nvPr/>
        </p:nvSpPr>
        <p:spPr>
          <a:xfrm>
            <a:off x="9759391" y="3200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759391" y="3621024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Governed</a:t>
            </a:r>
            <a:endParaRPr lang="en-US" sz="13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delivery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0080" y="4892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Humans stay in the loop — promotion, sign-off and curation are never delegated.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03 / 19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Seven pillars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93008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877824" y="189280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08760" y="1892808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Setup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08760" y="2295144"/>
            <a:ext cx="2441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One-command bootstrap of a governed, AI-ready repo.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98264" y="1691640"/>
            <a:ext cx="3493008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4636008" y="189280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266944" y="1892808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Onboarding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266944" y="2295144"/>
            <a:ext cx="2441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Per-user first run installs tooling and writes USER.md.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56448" y="1691640"/>
            <a:ext cx="3493008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8394192" y="189280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025128" y="1892808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Governance &amp; rules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025128" y="2295144"/>
            <a:ext cx="2441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canonical brief, trust tiers, scoped-write MCP.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191256"/>
            <a:ext cx="3493008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877824" y="33924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08760" y="3392424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CI/CD for AI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08760" y="3794760"/>
            <a:ext cx="2441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Rules expressed as scripts, enforced as merge gates.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98264" y="3191256"/>
            <a:ext cx="3493008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4636008" y="33924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266944" y="3392424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Knowledge layer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266944" y="3794760"/>
            <a:ext cx="2441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Sources → graph / RAG / vector; agents ground &amp; cite.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56448" y="3191256"/>
            <a:ext cx="3493008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25" name="Text 23"/>
          <p:cNvSpPr/>
          <p:nvPr/>
        </p:nvSpPr>
        <p:spPr>
          <a:xfrm>
            <a:off x="8394192" y="33924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025128" y="3392424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Roles × Skills × MCP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025128" y="3794760"/>
            <a:ext cx="2441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seat = an invokable skill + scoped connectors.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90872"/>
            <a:ext cx="3493008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29" name="Text 27"/>
          <p:cNvSpPr/>
          <p:nvPr/>
        </p:nvSpPr>
        <p:spPr>
          <a:xfrm>
            <a:off x="877824" y="48920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7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508760" y="4892040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Human methodology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08760" y="5294376"/>
            <a:ext cx="2441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Dashboard + retro turn usage into improvements.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156448" y="4690872"/>
            <a:ext cx="3493008" cy="1280160"/>
          </a:xfrm>
          <a:prstGeom prst="roundRect">
            <a:avLst>
              <a:gd name="adj" fmla="val 7143"/>
            </a:avLst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3" name="Text 31"/>
          <p:cNvSpPr/>
          <p:nvPr/>
        </p:nvSpPr>
        <p:spPr>
          <a:xfrm>
            <a:off x="8430768" y="4873752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pillar ships at least one runnable or enforceable artefact — not just prose.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04 / 19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PILLAR 5 · KNOWLEDGE LAYER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Ground, don't guess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9D9D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Project sources are ingested into a queryable store. Agents answer from it and cite the source's trust tier — instead of guessing from memory.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3364992" cy="2240280"/>
          </a:xfrm>
          <a:prstGeom prst="roundRect">
            <a:avLst>
              <a:gd name="adj" fmla="val 4082"/>
            </a:avLst>
          </a:prstGeom>
          <a:solidFill>
            <a:srgbClr val="141414"/>
          </a:solidFill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Sources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4014216"/>
            <a:ext cx="2816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BDBD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Docs, ADRs, standards, stakeholder input — frontmatter carries the trust tier.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26332" y="35661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›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413352" y="2788920"/>
            <a:ext cx="3364992" cy="2240280"/>
          </a:xfrm>
          <a:prstGeom prst="roundRect">
            <a:avLst>
              <a:gd name="adj" fmla="val 4082"/>
            </a:avLst>
          </a:prstGeom>
          <a:solidFill>
            <a:srgbClr val="141414"/>
          </a:solidFill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687672" y="3017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87672" y="352044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Ingest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87672" y="4014216"/>
            <a:ext cx="2816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BDBD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Chunk + index. Runs on a fresh clone with no external services; upgrades to embeddings or a knowledge MCP.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99603" y="35661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›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186623" y="2788920"/>
            <a:ext cx="3364992" cy="2240280"/>
          </a:xfrm>
          <a:prstGeom prst="roundRect">
            <a:avLst>
              <a:gd name="adj" fmla="val 4082"/>
            </a:avLst>
          </a:prstGeom>
          <a:solidFill>
            <a:srgbClr val="141414"/>
          </a:solidFill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8460943" y="3017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60943" y="352044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Knowledge graph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0943" y="4014216"/>
            <a:ext cx="2816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BDBD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store agents query for grounded, citable context — .knowledge/graph.db (now a graph, not just keywords).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A8C9A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scripts/knowledge/ingest.py — runnable on day one.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FBBFC8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BBFC8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05 / 19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PILLAR 6 · ROLES × SKILLS ×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Scoped capability per role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Five named seats. Each carries an invokable role-contract skill and a scoped set of MCP connectors — who owns what, which skills they invoke, which tools they may act in.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640080" y="2770632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Architect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68096" y="326440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Shape · ADRs · standards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837612" y="2514600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2837612" y="2770632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EM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65628" y="326440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 · CI · capacity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35144" y="2514600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5035144" y="2770632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Product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163160" y="326440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 · backlog · roadmap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32675" y="2514600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7232675" y="2770632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Developer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360691" y="326440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Implementation · tests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430207" y="2514600"/>
            <a:ext cx="21214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8" name="Text 16"/>
          <p:cNvSpPr/>
          <p:nvPr/>
        </p:nvSpPr>
        <p:spPr>
          <a:xfrm>
            <a:off x="9430207" y="2770632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558223" y="3264408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Strategy · gates · traceability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297680"/>
            <a:ext cx="523036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932688" y="45171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Invokable skills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5604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9013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.claude/skills/playbook-&lt;seat&gt;</a:t>
            </a: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— auto-discovered, conform to the agentskills.io spec.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99632" y="4297680"/>
            <a:ext cx="5230368" cy="1371600"/>
          </a:xfrm>
          <a:prstGeom prst="roundRect">
            <a:avLst>
              <a:gd name="adj" fmla="val 6667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24" name="Text 22"/>
          <p:cNvSpPr/>
          <p:nvPr/>
        </p:nvSpPr>
        <p:spPr>
          <a:xfrm>
            <a:off x="6492240" y="45171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Scoped MCP connectors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92240" y="495604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9013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.mcp.json</a:t>
            </a: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— tracker · wiki · knowledge · docs, scoped per seat.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06 / 19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PILLAR 3 · GOVERNANCE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Governance &amp; trust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Trust tiers — what an AI may rely 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728" cy="658368"/>
          </a:xfrm>
          <a:prstGeom prst="rect">
            <a:avLst/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932688" y="23042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Authoritative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108960" y="2340864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cite directly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98094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640080" y="2980944"/>
            <a:ext cx="109728" cy="658368"/>
          </a:xfrm>
          <a:prstGeom prst="rect">
            <a:avLst/>
          </a:prstGeom>
          <a:solidFill>
            <a:srgbClr val="AE0021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932688" y="30906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108960" y="31272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cite + status flag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76732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109728" cy="658368"/>
          </a:xfrm>
          <a:prstGeom prst="rect">
            <a:avLst/>
          </a:prstGeom>
          <a:solidFill>
            <a:srgbClr val="6B6B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932688" y="3877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Exploratory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108960" y="391363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read only if named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55371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8" name="Shape 16"/>
          <p:cNvSpPr/>
          <p:nvPr/>
        </p:nvSpPr>
        <p:spPr>
          <a:xfrm>
            <a:off x="640080" y="4553712"/>
            <a:ext cx="109728" cy="658368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932688" y="4663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Restricted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108960" y="4700016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path-referenced only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09360" y="16916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Scoped-write posture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309360" y="2194560"/>
            <a:ext cx="5239512" cy="969264"/>
          </a:xfrm>
          <a:prstGeom prst="roundRect">
            <a:avLst>
              <a:gd name="adj" fmla="val 7547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21"/>
          <p:cNvSpPr/>
          <p:nvPr/>
        </p:nvSpPr>
        <p:spPr>
          <a:xfrm>
            <a:off x="6583680" y="23408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canonical brief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26974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80" dirty="0">
                <a:solidFill>
                  <a:srgbClr val="D9D9D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AGENTS.md is the single source of truth; CLAUDE.md is a thin pointer that can't drift.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6309360" y="3291840"/>
            <a:ext cx="5239512" cy="969264"/>
          </a:xfrm>
          <a:prstGeom prst="roundRect">
            <a:avLst>
              <a:gd name="adj" fmla="val 7547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6" name="Text 24"/>
          <p:cNvSpPr/>
          <p:nvPr/>
        </p:nvSpPr>
        <p:spPr>
          <a:xfrm>
            <a:off x="6583680" y="34381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Attributable, never silent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379476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80" dirty="0">
                <a:solidFill>
                  <a:srgbClr val="D9D9D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AI write to a load-bearing artefact has a named seat and a reviewable trail.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6309360" y="4389120"/>
            <a:ext cx="5239512" cy="969264"/>
          </a:xfrm>
          <a:prstGeom prst="roundRect">
            <a:avLst>
              <a:gd name="adj" fmla="val 7547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9" name="Text 27"/>
          <p:cNvSpPr/>
          <p:nvPr/>
        </p:nvSpPr>
        <p:spPr>
          <a:xfrm>
            <a:off x="6583680" y="45354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Humans hold the keys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583680" y="489204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80" dirty="0">
                <a:solidFill>
                  <a:srgbClr val="D9D9D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Promotion, sign-off, and merges to protected branches stay human.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07 / 19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PILLAR 4 · CI/CD FOR 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Rules as scripts, enforced as gates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Governance rules are runnable scripts. Local pre-commit gives fast feedback; CI is the non-bypassable merge gate.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49300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896112" y="2633472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validate-skills.py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96112" y="3127248"/>
            <a:ext cx="22128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896112" y="3246120"/>
            <a:ext cx="2990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skill conforms to the agentskills.io spec.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2377440"/>
            <a:ext cx="349300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4654296" y="2633472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validate-frontmatter.py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654296" y="3127248"/>
            <a:ext cx="22128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4654296" y="3246120"/>
            <a:ext cx="2990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governed doc carries the trust / maturity contract.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56448" y="2377440"/>
            <a:ext cx="349300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8412480" y="2633472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commit_msg_ticket.py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412480" y="3127248"/>
            <a:ext cx="22128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8412480" y="3246120"/>
            <a:ext cx="2990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commit references an issue key, linking code to work.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42976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Newer validators:  </a:t>
            </a:r>
            <a:r>
              <a:rPr lang="en-US" sz="115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validate-moments.py · validate-seat-profiles.py · check-brief-churn.py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846320"/>
            <a:ext cx="10911535" cy="84124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914400" y="484632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Same scripts, two homes:  </a:t>
            </a: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.pre-commit-config.yaml (fast, local)  →  ai-governance.yml (non-bypassable merge gate).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08 / 19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SESSION RITUAL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Repo → Edit → Pull Request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D9D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session follows the same lightweight loop, so authorship and review stay consistent.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1975104" cy="2148840"/>
          </a:xfrm>
          <a:prstGeom prst="roundRect">
            <a:avLst>
              <a:gd name="adj" fmla="val 4630"/>
            </a:avLst>
          </a:prstGeom>
          <a:solidFill>
            <a:srgbClr val="141414"/>
          </a:solidFill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640080" y="288950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584448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Start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3968496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20" dirty="0">
                <a:solidFill>
                  <a:srgbClr val="BDBD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Confirm seat. Print branch &amp; sync state.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2561806" y="35204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›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2874188" y="2651760"/>
            <a:ext cx="1975104" cy="2148840"/>
          </a:xfrm>
          <a:prstGeom prst="roundRect">
            <a:avLst>
              <a:gd name="adj" fmla="val 4630"/>
            </a:avLst>
          </a:prstGeom>
          <a:solidFill>
            <a:srgbClr val="141414"/>
          </a:solidFill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2874188" y="288950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874188" y="3584448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20492" y="3968496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20" dirty="0">
                <a:solidFill>
                  <a:srgbClr val="BDBD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Answer from the knowledge layer; cite the tier.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4795914" y="35204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›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5108296" y="2651760"/>
            <a:ext cx="1975104" cy="2148840"/>
          </a:xfrm>
          <a:prstGeom prst="roundRect">
            <a:avLst>
              <a:gd name="adj" fmla="val 4630"/>
            </a:avLst>
          </a:prstGeom>
          <a:solidFill>
            <a:srgbClr val="141414"/>
          </a:solidFill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5108296" y="288950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108296" y="3584448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Edit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54600" y="3968496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20" dirty="0">
                <a:solidFill>
                  <a:srgbClr val="BDBD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 on a branch. Frontmatter: owner = seat.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7030022" y="35204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›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7342403" y="2651760"/>
            <a:ext cx="1975104" cy="2148840"/>
          </a:xfrm>
          <a:prstGeom prst="roundRect">
            <a:avLst>
              <a:gd name="adj" fmla="val 4630"/>
            </a:avLst>
          </a:prstGeom>
          <a:solidFill>
            <a:srgbClr val="141414"/>
          </a:solidFill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7342403" y="288950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342403" y="3584448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Gate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88707" y="3968496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20" dirty="0">
                <a:solidFill>
                  <a:srgbClr val="BDBD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Pre-commit runs the governance checks.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9264129" y="35204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›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9576511" y="2651760"/>
            <a:ext cx="1975104" cy="2148840"/>
          </a:xfrm>
          <a:prstGeom prst="roundRect">
            <a:avLst>
              <a:gd name="adj" fmla="val 4630"/>
            </a:avLst>
          </a:prstGeom>
          <a:solidFill>
            <a:srgbClr val="141414"/>
          </a:solidFill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26" name="Text 24"/>
          <p:cNvSpPr/>
          <p:nvPr/>
        </p:nvSpPr>
        <p:spPr>
          <a:xfrm>
            <a:off x="9576511" y="288950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576511" y="3584448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Pull Request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22815" y="3968496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20" dirty="0">
                <a:solidFill>
                  <a:srgbClr val="BDBD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Commit, push, open a PR. Merge is human-reviewed.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640080" y="523036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A8C9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never pushes a protected branch. Every change is attributable to a named seat.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FBBFC8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BBFC8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09 / 19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PILLAR 7 · MEASUREMENT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can't improve what you don't measure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running Streamlit + SQLite dashboard renders on a fresh clone, then feeds on your real sessions. Volume is never read alone — it always sits next to rework.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542032" cy="1325880"/>
          </a:xfrm>
          <a:prstGeom prst="roundRect">
            <a:avLst>
              <a:gd name="adj" fmla="val 6897"/>
            </a:avLst>
          </a:prstGeom>
          <a:solidFill>
            <a:srgbClr val="F5F5F5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68%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337560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Acceptance rate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9914" y="2468880"/>
            <a:ext cx="2542032" cy="1325880"/>
          </a:xfrm>
          <a:prstGeom prst="roundRect">
            <a:avLst>
              <a:gd name="adj" fmla="val 6897"/>
            </a:avLst>
          </a:prstGeom>
          <a:solidFill>
            <a:srgbClr val="F5F5F5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3429914" y="2651760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€0.21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29914" y="3337560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Cost / accepted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9749" y="2468880"/>
            <a:ext cx="2542032" cy="1325880"/>
          </a:xfrm>
          <a:prstGeom prst="roundRect">
            <a:avLst>
              <a:gd name="adj" fmla="val 6897"/>
            </a:avLst>
          </a:prstGeom>
          <a:solidFill>
            <a:srgbClr val="F5F5F5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6219749" y="2651760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12%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19749" y="3337560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Rework rate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09583" y="2468880"/>
            <a:ext cx="2542032" cy="1325880"/>
          </a:xfrm>
          <a:prstGeom prst="roundRect">
            <a:avLst>
              <a:gd name="adj" fmla="val 6897"/>
            </a:avLst>
          </a:prstGeom>
          <a:solidFill>
            <a:srgbClr val="F5F5F5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9009583" y="2651760"/>
            <a:ext cx="2542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83%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09583" y="3337560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Grounding rate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39136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* illustrative — seeded demo data; swap in real figures before presenting.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4343400"/>
            <a:ext cx="10911535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932688" y="44988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views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32688" y="489204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Utilization</a:t>
            </a:r>
            <a:r>
              <a:rPr lang="en-US" sz="12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sessions, acceptance, grounding   ·   </a:t>
            </a:r>
            <a:r>
              <a:rPr lang="en-US" sz="12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Attribution</a:t>
            </a:r>
            <a:r>
              <a:rPr lang="en-US" sz="12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AI / mixed / human commits   ·   </a:t>
            </a:r>
            <a:r>
              <a:rPr lang="en-US" sz="12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Waste signals</a:t>
            </a:r>
            <a:r>
              <a:rPr lang="en-US" sz="12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cost per accepted outcome   ·   </a:t>
            </a:r>
            <a:r>
              <a:rPr lang="en-US" sz="12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ROI</a:t>
            </a:r>
            <a:r>
              <a:rPr lang="en-US" sz="12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human-day-equivalent over closed tickets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10 / 19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NEW · TOKEN ECONOMY &amp; ROI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 AI spend worth another developer?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11535" cy="1234440"/>
          </a:xfrm>
          <a:prstGeom prst="roundRect">
            <a:avLst>
              <a:gd name="adj" fmla="val 7407"/>
            </a:avLst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1005840" y="16459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“A human-day costs ~€500. If we add ~€500/day of AI spend, is the output worth two devs — more, less — and what's the ROI?”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108960"/>
            <a:ext cx="3493008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896112" y="3346704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Human-day-equivalent (HDE)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406908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18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ROI over per-ticket estimates, triangulated across four methods and tagged by evidence tier — calibration A/B &gt; pre-work estimate &gt; velocity &gt; post-hoc.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4398264" y="3108960"/>
            <a:ext cx="3493008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4654296" y="3346704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consumption sources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54296" y="406908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18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Claude Code sessions (per-token), Anthropic API, Cursor/Copilot (invoice), Max seats (flat-rate) — each with a granularity honesty flag.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8156448" y="3108960"/>
            <a:ext cx="3493008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8412480" y="3346704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Client-facing ROI report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412480" y="406908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18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€-denominated report exported straight from the dashboard — a defensible number for a QBR, not a hand-wave.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11 / 19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MOMENTUM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kit keeps shipping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932688" y="19019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Token economy &amp; ROI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206240" y="19202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Consumption collectors + HDE ROI model + client export.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951415" y="1911096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90130"/>
          </a:solidFill>
          <a:ln w="12700">
            <a:solidFill>
              <a:srgbClr val="E90130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9951415" y="191109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runnable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532888"/>
            <a:ext cx="10911535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932688" y="2651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Knowledge graph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206240" y="267004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graph.db replaces keyword-only ingest.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951415" y="2660904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90130"/>
          </a:solidFill>
          <a:ln w="12700">
            <a:solidFill>
              <a:srgbClr val="E90130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9951415" y="26609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runnable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3282696"/>
            <a:ext cx="10911535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932688" y="340156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Jira ledger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206240" y="341985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work linked to the delivery system of record (scripts/jira/).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951415" y="341071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90130"/>
          </a:solidFill>
          <a:ln w="12700">
            <a:solidFill>
              <a:srgbClr val="E90130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8" name="Text 16"/>
          <p:cNvSpPr/>
          <p:nvPr/>
        </p:nvSpPr>
        <p:spPr>
          <a:xfrm>
            <a:off x="9951415" y="34107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runnable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032504"/>
            <a:ext cx="10911535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20" name="Text 18"/>
          <p:cNvSpPr/>
          <p:nvPr/>
        </p:nvSpPr>
        <p:spPr>
          <a:xfrm>
            <a:off x="932688" y="415137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Tighter gates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206240" y="41696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New validators: moments, seat profiles, brief churn.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951415" y="41605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90130"/>
          </a:solidFill>
          <a:ln w="12700">
            <a:solidFill>
              <a:srgbClr val="E90130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23" name="Text 21"/>
          <p:cNvSpPr/>
          <p:nvPr/>
        </p:nvSpPr>
        <p:spPr>
          <a:xfrm>
            <a:off x="9951415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runnable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4782312"/>
            <a:ext cx="10911535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25" name="Text 23"/>
          <p:cNvSpPr/>
          <p:nvPr/>
        </p:nvSpPr>
        <p:spPr>
          <a:xfrm>
            <a:off x="932688" y="490118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Team session ledger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206240" y="491947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Per-user CSV ledgers commit with PRs and fold into one team view.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951415" y="491032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28" name="Text 26"/>
          <p:cNvSpPr/>
          <p:nvPr/>
        </p:nvSpPr>
        <p:spPr>
          <a:xfrm>
            <a:off x="9951415" y="49103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6B6B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latest design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6235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Token ROI, graph, Jira ledger and validators are runnable in template/; the team ledger is the latest design.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12 / 19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01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FFFFFF">
                    <a:alpha val="22000"/>
                  </a:srgbClr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STANDARDS &amp; INTEROPERABILITY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We're not the only ones</a:t>
            </a:r>
            <a:endParaRPr lang="en-US" sz="4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formalising this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E3E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Cloud's Open Knowledge Format (OKF), June 2026 — an emerging open standard for portable AI knowledge.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FBBFC8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BBFC8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13 / 19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OPEN KNOWLEDGE FORMAT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Knowledge as portable, versioned files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206240" cy="3657600"/>
          </a:xfrm>
          <a:prstGeom prst="roundRect">
            <a:avLst>
              <a:gd name="adj" fmla="val 2500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960120" y="2011680"/>
            <a:ext cx="3657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sales/
</a:t>
            </a:r>
            <a:r>
              <a:rPr lang="en-US" sz="1150" dirty="0">
                <a:solidFill>
                  <a:srgbClr val="BDBDBD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├── index.md
</a:t>
            </a:r>
            <a:r>
              <a:rPr lang="en-US" sz="11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├── tables/
</a:t>
            </a:r>
            <a:r>
              <a:rPr lang="en-US" sz="1150" dirty="0">
                <a:solidFill>
                  <a:srgbClr val="FA8C9A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│   ├── orders.md
│   └── customers.md
</a:t>
            </a:r>
            <a:r>
              <a:rPr lang="en-US" sz="11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└── metrics/
</a:t>
            </a:r>
            <a:r>
              <a:rPr lang="en-US" sz="1150" dirty="0">
                <a:solidFill>
                  <a:srgbClr val="FA8C9A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   └── weekly_active.md
</a:t>
            </a:r>
            <a:r>
              <a:rPr lang="en-US" sz="115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--- YAML frontmatter ---
</a:t>
            </a:r>
            <a:r>
              <a:rPr lang="en-US" sz="11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type: BigQuery Table
</a:t>
            </a:r>
            <a:r>
              <a:rPr lang="en-US" sz="1150" dirty="0">
                <a:solidFill>
                  <a:srgbClr val="BDBDBD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title / description / tags
resource / timestamp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212080" y="178308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Just markdown + YAML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212080" y="2112264"/>
            <a:ext cx="6339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bundle is a directory of .md concept docs. Renders on GitHub, indexable by any tool.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12080" y="2679192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Minimally opinionated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212080" y="3008376"/>
            <a:ext cx="6339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mandatory field (type); reserved title, description, resource, tags, timestamp; index.md + log.md.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12080" y="3575304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Producer / consumer independent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212080" y="3904488"/>
            <a:ext cx="6339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system writes a bundle another consumes — no shared platform, SDK, or account.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4471416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Format, not platform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212080" y="4800600"/>
            <a:ext cx="6339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Vendor-neutral; version-controlled next to code; one file serves humans and agents.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56235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Source: Google Cloud Data Cloud · OKF v0.1 · github.com/GoogleCloudPlatform/knowledge-catalog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14 / 19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Our knowledge layer already speaks this language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658368"/>
          </a:xfrm>
          <a:prstGeom prst="rect">
            <a:avLst/>
          </a:prstGeom>
          <a:solidFill>
            <a:srgbClr val="E90130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5" name="Shape 3"/>
          <p:cNvSpPr/>
          <p:nvPr/>
        </p:nvSpPr>
        <p:spPr>
          <a:xfrm>
            <a:off x="5897880" y="1737360"/>
            <a:ext cx="521208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Kit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80760" y="173736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OKF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395728"/>
            <a:ext cx="5257800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9" name="Shape 7"/>
          <p:cNvSpPr/>
          <p:nvPr/>
        </p:nvSpPr>
        <p:spPr>
          <a:xfrm>
            <a:off x="5897880" y="2395728"/>
            <a:ext cx="5212080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822960" y="2395728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docs/knowledge/ markdown sources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80760" y="239572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Bundle of markdown concept docs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054096"/>
            <a:ext cx="5257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3" name="Shape 11"/>
          <p:cNvSpPr/>
          <p:nvPr/>
        </p:nvSpPr>
        <p:spPr>
          <a:xfrm>
            <a:off x="5897880" y="3054096"/>
            <a:ext cx="5212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822960" y="3054096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Frontmatter: title, status, owner, classification, ai-trust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080760" y="305409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Reserved YAML: type, title, description, tags, timestamp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12464"/>
            <a:ext cx="5257800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7" name="Shape 15"/>
          <p:cNvSpPr/>
          <p:nvPr/>
        </p:nvSpPr>
        <p:spPr>
          <a:xfrm>
            <a:off x="5897880" y="3712464"/>
            <a:ext cx="5212080" cy="658368"/>
          </a:xfrm>
          <a:prstGeom prst="rect">
            <a:avLst/>
          </a:prstGeom>
          <a:solidFill>
            <a:srgbClr val="F5F5F5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8" name="Text 16"/>
          <p:cNvSpPr/>
          <p:nvPr/>
        </p:nvSpPr>
        <p:spPr>
          <a:xfrm>
            <a:off x="822960" y="371246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Trust tiers (authoritative → restricted)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080760" y="3712464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OKF with a reliability dimension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70832"/>
            <a:ext cx="5257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21" name="Shape 19"/>
          <p:cNvSpPr/>
          <p:nvPr/>
        </p:nvSpPr>
        <p:spPr>
          <a:xfrm>
            <a:off x="5897880" y="4370832"/>
            <a:ext cx="5212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22" name="Text 20"/>
          <p:cNvSpPr/>
          <p:nvPr/>
        </p:nvSpPr>
        <p:spPr>
          <a:xfrm>
            <a:off x="822960" y="4370832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ingest.py → graph / RAG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080760" y="437083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Producer/consumer independence — any consumer reads the bundle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166360"/>
            <a:ext cx="10911535" cy="868680"/>
          </a:xfrm>
          <a:prstGeom prst="rect">
            <a:avLst/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5" name="Text 23"/>
          <p:cNvSpPr/>
          <p:nvPr/>
        </p:nvSpPr>
        <p:spPr>
          <a:xfrm>
            <a:off x="914400" y="516636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move:  </a:t>
            </a: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align our frontmatter + folder layout to OKF → project knowledge becomes portable, interoperable, and standardised instead of bespoke.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15 / 19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01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FFFFFF">
                    <a:alpha val="22000"/>
                  </a:srgbClr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 TEAM DIAGNOSTIC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we work with AI today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E3E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5-minute, anonymous pulse — tested live in a client workshop — that scores a team on the AI maturity ladder.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FBBFC8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BBFC8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16 / 19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DIAGNOSTIC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13 questions, 4 dimensions, one maturity level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4871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5" name="Shape 3"/>
          <p:cNvSpPr/>
          <p:nvPr/>
        </p:nvSpPr>
        <p:spPr>
          <a:xfrm>
            <a:off x="914400" y="2167128"/>
            <a:ext cx="457200" cy="54864"/>
          </a:xfrm>
          <a:prstGeom prst="rect">
            <a:avLst/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896112" y="231343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Usage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78892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much, how broadly AI is used.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48202" y="1874520"/>
            <a:ext cx="24871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9" name="Shape 7"/>
          <p:cNvSpPr/>
          <p:nvPr/>
        </p:nvSpPr>
        <p:spPr>
          <a:xfrm>
            <a:off x="3722522" y="2167128"/>
            <a:ext cx="457200" cy="54864"/>
          </a:xfrm>
          <a:prstGeom prst="rect">
            <a:avLst/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3704234" y="231343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Skills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704234" y="278892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Prompting, verification, resilience.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56325" y="1874520"/>
            <a:ext cx="24871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3" name="Shape 11"/>
          <p:cNvSpPr/>
          <p:nvPr/>
        </p:nvSpPr>
        <p:spPr>
          <a:xfrm>
            <a:off x="6530645" y="2167128"/>
            <a:ext cx="457200" cy="54864"/>
          </a:xfrm>
          <a:prstGeom prst="rect">
            <a:avLst/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6512357" y="231343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12357" y="278892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Consistency, handover, sharing.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64447" y="1874520"/>
            <a:ext cx="248716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ro-RO"/>
          </a:p>
        </p:txBody>
      </p:sp>
      <p:sp>
        <p:nvSpPr>
          <p:cNvPr id="17" name="Shape 15"/>
          <p:cNvSpPr/>
          <p:nvPr/>
        </p:nvSpPr>
        <p:spPr>
          <a:xfrm>
            <a:off x="9338767" y="2167128"/>
            <a:ext cx="457200" cy="54864"/>
          </a:xfrm>
          <a:prstGeom prst="rect">
            <a:avLst/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8" name="Text 16"/>
          <p:cNvSpPr/>
          <p:nvPr/>
        </p:nvSpPr>
        <p:spPr>
          <a:xfrm>
            <a:off x="9320479" y="231343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Governance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320479" y="2788920"/>
            <a:ext cx="2029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rules, review, measurement, agent access.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73152" cy="658368"/>
          </a:xfrm>
          <a:prstGeom prst="rect">
            <a:avLst/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896112" y="384048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Anonymous &amp; fast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4187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role question + 13 MCQs; results hidden during voting; join by QR or link.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782312"/>
            <a:ext cx="73152" cy="658368"/>
          </a:xfrm>
          <a:prstGeom prst="rect">
            <a:avLst/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4" name="Text 22"/>
          <p:cNvSpPr/>
          <p:nvPr/>
        </p:nvSpPr>
        <p:spPr>
          <a:xfrm>
            <a:off x="896112" y="473659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Built to measure, not flatter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6112" y="508406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Dimensions interleave; two questions are reverse-scored to break the 'last option = best' pattern.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17 / 19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REVEAL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E9013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a team lands — live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58368" cy="548640"/>
          </a:xfrm>
          <a:prstGeom prst="rect">
            <a:avLst/>
          </a:prstGeom>
          <a:solidFill>
            <a:srgbClr val="E901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5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298448" y="1783080"/>
            <a:ext cx="69494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1463040" y="1819656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AI-native / Optimizing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63040" y="209397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Agentic workflows; usage measured against outcomes.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441448"/>
            <a:ext cx="658368" cy="548640"/>
          </a:xfrm>
          <a:prstGeom prst="rect">
            <a:avLst/>
          </a:prstGeom>
          <a:solidFill>
            <a:srgbClr val="C8072A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640080" y="2441448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4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298448" y="2441448"/>
            <a:ext cx="6446520" cy="548640"/>
          </a:xfrm>
          <a:prstGeom prst="rect">
            <a:avLst/>
          </a:prstGeom>
          <a:solidFill>
            <a:srgbClr val="F5F5F5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1463040" y="2478024"/>
            <a:ext cx="6172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Process-embedded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463040" y="2752344"/>
            <a:ext cx="6172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Systems usable by agents; skills packaged as shared artifacts.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099816"/>
            <a:ext cx="658368" cy="548640"/>
          </a:xfrm>
          <a:prstGeom prst="rect">
            <a:avLst/>
          </a:prstGeom>
          <a:solidFill>
            <a:srgbClr val="9B143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640080" y="3099816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298448" y="3099816"/>
            <a:ext cx="5943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1463040" y="313639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Team-adopted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63040" y="3410712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tools &amp; patterns — but value still breaks at handovers.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758184"/>
            <a:ext cx="658368" cy="548640"/>
          </a:xfrm>
          <a:prstGeom prst="rect">
            <a:avLst/>
          </a:prstGeom>
          <a:solidFill>
            <a:srgbClr val="6B6B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0" name="Text 18"/>
          <p:cNvSpPr/>
          <p:nvPr/>
        </p:nvSpPr>
        <p:spPr>
          <a:xfrm>
            <a:off x="640080" y="3758184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298448" y="3758184"/>
            <a:ext cx="5440680" cy="548640"/>
          </a:xfrm>
          <a:prstGeom prst="rect">
            <a:avLst/>
          </a:prstGeom>
          <a:solidFill>
            <a:srgbClr val="F5F5F5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22" name="Text 20"/>
          <p:cNvSpPr/>
          <p:nvPr/>
        </p:nvSpPr>
        <p:spPr>
          <a:xfrm>
            <a:off x="1463040" y="379476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Individual / Ad-hoc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63040" y="4069080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Personal gains that leave when the person leaves.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16552"/>
            <a:ext cx="658368" cy="548640"/>
          </a:xfrm>
          <a:prstGeom prst="rect">
            <a:avLst/>
          </a:prstGeom>
          <a:solidFill>
            <a:srgbClr val="D9D9D9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5" name="Text 23"/>
          <p:cNvSpPr/>
          <p:nvPr/>
        </p:nvSpPr>
        <p:spPr>
          <a:xfrm>
            <a:off x="640080" y="4416552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000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298448" y="4416552"/>
            <a:ext cx="4937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27" name="Text 25"/>
          <p:cNvSpPr/>
          <p:nvPr/>
        </p:nvSpPr>
        <p:spPr>
          <a:xfrm>
            <a:off x="1463040" y="445312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Unaware / Skeptical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463040" y="472744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or accidental use.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29600" y="1783080"/>
            <a:ext cx="3322015" cy="3291840"/>
          </a:xfrm>
          <a:prstGeom prst="roundRect">
            <a:avLst>
              <a:gd name="adj" fmla="val 2778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0" name="Text 28"/>
          <p:cNvSpPr/>
          <p:nvPr/>
        </p:nvSpPr>
        <p:spPr>
          <a:xfrm>
            <a:off x="8503920" y="201168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LIVE OUTPUT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03920" y="2377440"/>
            <a:ext cx="2773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4-axis radar (one per dimension) + overall level, broken down by role.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503920" y="3246120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BDBD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Role rows hide below n = 4 to protect anonymity.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503920" y="3977640"/>
            <a:ext cx="2773375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34" name="Text 32"/>
          <p:cNvSpPr/>
          <p:nvPr/>
        </p:nvSpPr>
        <p:spPr>
          <a:xfrm>
            <a:off x="8503920" y="411480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A8C9A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2 → 3 gut-check: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503920" y="4407408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the gain survive the person leaving, and survive a handover?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" y="5257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Most teams score individual skill high but team &amp; governance low — exactly the gap the kit closes.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18 / 19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01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ADOPTION &amp; 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Bootstrap a governed AI-SDLC</a:t>
            </a:r>
            <a:endParaRPr lang="en-US" sz="3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one command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11535" cy="1344168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Shape 3"/>
          <p:cNvSpPr/>
          <p:nvPr/>
        </p:nvSpPr>
        <p:spPr>
          <a:xfrm>
            <a:off x="828488" y="2420654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1029656" y="2420654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Shape 5"/>
          <p:cNvSpPr/>
          <p:nvPr/>
        </p:nvSpPr>
        <p:spPr>
          <a:xfrm>
            <a:off x="1230824" y="2420654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960119" y="2926080"/>
            <a:ext cx="1027145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A8C9A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$ template/scripts/bootstrap.sh --name "Acme Wallet" \
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    --slug acme-wallet --dir ../acme-wallet --ticket ACME --host github
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DBDBD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✓ copied template  ✓ substituted placeholders  ✓ git init + commit  ✓ installed hooks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pilot:  pick a repo  ›  bootstrap  ›  add knowledge sources  ›  run one real story through a full lap  ›  read the dashboard at the retro.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526280"/>
            <a:ext cx="1371600" cy="457200"/>
          </a:xfrm>
          <a:prstGeom prst="roundRect">
            <a:avLst>
              <a:gd name="adj" fmla="val 50000"/>
            </a:avLst>
          </a:prstGeom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640080" y="4526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Grounded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40280" y="4526280"/>
            <a:ext cx="1828800" cy="457200"/>
          </a:xfrm>
          <a:prstGeom prst="roundRect">
            <a:avLst>
              <a:gd name="adj" fmla="val 50000"/>
            </a:avLst>
          </a:prstGeom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2240280" y="4526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Attributable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4526280"/>
            <a:ext cx="1028700" cy="457200"/>
          </a:xfrm>
          <a:prstGeom prst="roundRect">
            <a:avLst>
              <a:gd name="adj" fmla="val 50000"/>
            </a:avLst>
          </a:prstGeom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297680" y="4526280"/>
            <a:ext cx="1028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Gated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54980" y="4526280"/>
            <a:ext cx="1714500" cy="457200"/>
          </a:xfrm>
          <a:prstGeom prst="roundRect">
            <a:avLst>
              <a:gd name="adj" fmla="val 50000"/>
            </a:avLst>
          </a:prstGeom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5554980" y="4526280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Human-owned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5257800"/>
            <a:ext cx="10911535" cy="8686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914400" y="525780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9013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ask:  </a:t>
            </a:r>
            <a:r>
              <a:rPr lang="en-US" sz="13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who pilots it, on which project, by when?</a:t>
            </a:r>
            <a:r>
              <a:rPr lang="en-US" sz="1350" dirty="0">
                <a:solidFill>
                  <a:srgbClr val="6B6B6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And: do we align our knowledge layer to OKF as a shared standard?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FBBFC8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AI-SDLC BOOTSTRAP KIT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362895" y="64739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BBFC8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19 /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2023</Words>
  <Application>Microsoft Macintosh PowerPoint</Application>
  <PresentationFormat>Widescreen</PresentationFormat>
  <Paragraphs>324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Lexend Deca</vt:lpstr>
      <vt:lpstr>Roboto</vt:lpstr>
      <vt:lpstr>Roboto Mono</vt:lpstr>
      <vt:lpstr>Roboto Mono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AI-SDLC Bootstrap Kit — Delivery LT Circle</dc:title>
  <dc:subject>PptxGenJS Presentation</dc:subject>
  <dc:creator>AI-SDLC Bootstrap Kit</dc:creator>
  <cp:lastModifiedBy>Geo Dinca</cp:lastModifiedBy>
  <cp:revision>4</cp:revision>
  <dcterms:created xsi:type="dcterms:W3CDTF">2026-07-29T11:25:24Z</dcterms:created>
  <dcterms:modified xsi:type="dcterms:W3CDTF">2026-07-29T12:09:47Z</dcterms:modified>
</cp:coreProperties>
</file>