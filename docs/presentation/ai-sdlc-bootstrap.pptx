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192" y="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9471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901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48640"/>
            <a:ext cx="1436065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148840"/>
            <a:ext cx="10607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AI EXPRESS </a:t>
            </a:r>
            <a:br>
              <a:rPr lang="en-US" sz="4600" b="1" dirty="0">
                <a:solidFill>
                  <a:srgbClr val="FFFFFF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</a:br>
            <a:r>
              <a:rPr lang="en-US" sz="4600" b="1" dirty="0">
                <a:solidFill>
                  <a:srgbClr val="FFFFFF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Framework across the SDLC</a:t>
            </a:r>
            <a:endParaRPr lang="en-US" sz="4600" dirty="0"/>
          </a:p>
        </p:txBody>
      </p:sp>
      <p:sp>
        <p:nvSpPr>
          <p:cNvPr id="4" name="Text 1"/>
          <p:cNvSpPr/>
          <p:nvPr/>
        </p:nvSpPr>
        <p:spPr>
          <a:xfrm>
            <a:off x="640080" y="416052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FFE3E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drop-in, bootstrapped operating model, human-owned.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640080" y="5029200"/>
            <a:ext cx="3840480" cy="0"/>
          </a:xfrm>
          <a:prstGeom prst="line">
            <a:avLst/>
          </a:prstGeom>
          <a:noFill/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6" name="Text 3"/>
          <p:cNvSpPr/>
          <p:nvPr/>
        </p:nvSpPr>
        <p:spPr>
          <a:xfrm>
            <a:off x="640080" y="5138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AI-SDLC BOOTSTRAP KIT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0080" y="598932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BBFC8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Delivery LT Circle  ·  github.com/georgiandinca/ai-sdlc-bootstrap-kit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9013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3100" b="1" dirty="0">
                <a:solidFill>
                  <a:srgbClr val="E9013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AI is in every workflow — but ungoverned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30368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o-RO" dirty="0"/>
          </a:p>
        </p:txBody>
      </p:sp>
      <p:sp>
        <p:nvSpPr>
          <p:cNvPr id="5" name="Text 3"/>
          <p:cNvSpPr/>
          <p:nvPr/>
        </p:nvSpPr>
        <p:spPr>
          <a:xfrm>
            <a:off x="932688" y="2002536"/>
            <a:ext cx="4681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9013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Ad-hoc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32688" y="2459736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Everyone prompts differently. No shared baseline, no repeatable quality.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99632" y="1783080"/>
            <a:ext cx="5230368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o-RO"/>
          </a:p>
        </p:txBody>
      </p:sp>
      <p:sp>
        <p:nvSpPr>
          <p:cNvPr id="8" name="Text 6"/>
          <p:cNvSpPr/>
          <p:nvPr/>
        </p:nvSpPr>
        <p:spPr>
          <a:xfrm>
            <a:off x="6492240" y="2002536"/>
            <a:ext cx="4681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9013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Ungrounded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492240" y="2459736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Agents answer from memory and guess APIs instead of the project's own truth.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538728"/>
            <a:ext cx="5230368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o-RO"/>
          </a:p>
        </p:txBody>
      </p:sp>
      <p:sp>
        <p:nvSpPr>
          <p:cNvPr id="11" name="Text 9"/>
          <p:cNvSpPr/>
          <p:nvPr/>
        </p:nvSpPr>
        <p:spPr>
          <a:xfrm>
            <a:off x="932688" y="3758184"/>
            <a:ext cx="4681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9013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Unattributable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932688" y="4215384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edits load-bearing artefacts with no named owner and no reviewable trail.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99632" y="3538728"/>
            <a:ext cx="5230368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o-RO"/>
          </a:p>
        </p:txBody>
      </p:sp>
      <p:sp>
        <p:nvSpPr>
          <p:cNvPr id="14" name="Text 12"/>
          <p:cNvSpPr/>
          <p:nvPr/>
        </p:nvSpPr>
        <p:spPr>
          <a:xfrm>
            <a:off x="6492240" y="3758184"/>
            <a:ext cx="4681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9013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Reinvented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492240" y="4215384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project rebuilds the same governance from scratch — and it drifts.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340096"/>
            <a:ext cx="10911535" cy="694944"/>
          </a:xfrm>
          <a:prstGeom prst="rect">
            <a:avLst/>
          </a:prstGeom>
          <a:solidFill>
            <a:srgbClr val="E90130"/>
          </a:solidFill>
          <a:ln/>
        </p:spPr>
        <p:txBody>
          <a:bodyPr/>
          <a:lstStyle/>
          <a:p>
            <a:endParaRPr lang="ro-RO"/>
          </a:p>
        </p:txBody>
      </p:sp>
      <p:sp>
        <p:nvSpPr>
          <p:cNvPr id="17" name="Text 15"/>
          <p:cNvSpPr/>
          <p:nvPr/>
        </p:nvSpPr>
        <p:spPr>
          <a:xfrm>
            <a:off x="914400" y="5340096"/>
            <a:ext cx="1036289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MIT (Project NANDA, 2025): </a:t>
            </a:r>
            <a:r>
              <a:rPr lang="en-US" sz="13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~95% of enterprise GenAI pilots delivered no measurable P&amp;L impact. Adoption ≠ transformation.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40080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100" dirty="0">
                <a:solidFill>
                  <a:srgbClr val="6B6B6B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AI-SDLC BOOTSTRAP KIT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362895" y="647395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6B6B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02 / 19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9013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THE IDEA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3100" b="1" dirty="0">
                <a:solidFill>
                  <a:srgbClr val="E9013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One operating model, bootstrapped into any repo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It began on a whiteboard. The kit turns that sketch into a runnable scaffold — ground the AI in the project's own truth, scope each role's capabilities, and gate the output.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1975104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ro-RO"/>
          </a:p>
        </p:txBody>
      </p:sp>
      <p:sp>
        <p:nvSpPr>
          <p:cNvPr id="6" name="Text 4"/>
          <p:cNvSpPr/>
          <p:nvPr/>
        </p:nvSpPr>
        <p:spPr>
          <a:xfrm>
            <a:off x="822960" y="32004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013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3621024"/>
            <a:ext cx="16093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Sources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561806" y="347472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9013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›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2874188" y="3017520"/>
            <a:ext cx="1975104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ro-RO"/>
          </a:p>
        </p:txBody>
      </p:sp>
      <p:sp>
        <p:nvSpPr>
          <p:cNvPr id="10" name="Text 8"/>
          <p:cNvSpPr/>
          <p:nvPr/>
        </p:nvSpPr>
        <p:spPr>
          <a:xfrm>
            <a:off x="3057068" y="32004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013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057068" y="3621024"/>
            <a:ext cx="16093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Ingest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795914" y="347472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9013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›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5108296" y="3017520"/>
            <a:ext cx="1975104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ro-RO"/>
          </a:p>
        </p:txBody>
      </p:sp>
      <p:sp>
        <p:nvSpPr>
          <p:cNvPr id="14" name="Text 12"/>
          <p:cNvSpPr/>
          <p:nvPr/>
        </p:nvSpPr>
        <p:spPr>
          <a:xfrm>
            <a:off x="5291176" y="32004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013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291176" y="3621024"/>
            <a:ext cx="16093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Knowledge</a:t>
            </a:r>
            <a:endParaRPr lang="en-US" sz="13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graph · RAG · vector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030022" y="347472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9013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›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7342403" y="3017520"/>
            <a:ext cx="1975104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ro-RO"/>
          </a:p>
        </p:txBody>
      </p:sp>
      <p:sp>
        <p:nvSpPr>
          <p:cNvPr id="18" name="Text 16"/>
          <p:cNvSpPr/>
          <p:nvPr/>
        </p:nvSpPr>
        <p:spPr>
          <a:xfrm>
            <a:off x="7525283" y="32004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013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525283" y="3621024"/>
            <a:ext cx="16093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Roles × Skills</a:t>
            </a:r>
            <a:endParaRPr lang="en-US" sz="13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× MCP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9264129" y="347472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9013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›</a:t>
            </a:r>
            <a:endParaRPr lang="en-US" sz="2800" dirty="0"/>
          </a:p>
        </p:txBody>
      </p:sp>
      <p:sp>
        <p:nvSpPr>
          <p:cNvPr id="21" name="Shape 19"/>
          <p:cNvSpPr/>
          <p:nvPr/>
        </p:nvSpPr>
        <p:spPr>
          <a:xfrm>
            <a:off x="9576511" y="3017520"/>
            <a:ext cx="1975104" cy="1371600"/>
          </a:xfrm>
          <a:prstGeom prst="roundRect">
            <a:avLst>
              <a:gd name="adj" fmla="val 6667"/>
            </a:avLst>
          </a:prstGeom>
          <a:solidFill>
            <a:srgbClr val="E90130"/>
          </a:solidFill>
          <a:ln w="9525">
            <a:solidFill>
              <a:srgbClr val="D9D9D9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ro-RO"/>
          </a:p>
        </p:txBody>
      </p:sp>
      <p:sp>
        <p:nvSpPr>
          <p:cNvPr id="22" name="Text 20"/>
          <p:cNvSpPr/>
          <p:nvPr/>
        </p:nvSpPr>
        <p:spPr>
          <a:xfrm>
            <a:off x="9759391" y="32004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759391" y="3621024"/>
            <a:ext cx="16093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Governed</a:t>
            </a:r>
            <a:endParaRPr lang="en-US" sz="13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delivery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40080" y="48920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6B6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Humans stay in the loop — promotion, sign-off and curation are never delegated.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40080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100" dirty="0">
                <a:solidFill>
                  <a:srgbClr val="6B6B6B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AI-SDLC BOOTSTRAP KIT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0362895" y="647395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6B6B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03 / 19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9013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THE FRAMEWORK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3100" b="1" dirty="0">
                <a:solidFill>
                  <a:srgbClr val="E9013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Seven pillars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93008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ro-RO"/>
          </a:p>
        </p:txBody>
      </p:sp>
      <p:sp>
        <p:nvSpPr>
          <p:cNvPr id="5" name="Text 3"/>
          <p:cNvSpPr/>
          <p:nvPr/>
        </p:nvSpPr>
        <p:spPr>
          <a:xfrm>
            <a:off x="877824" y="189280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9013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08760" y="1892808"/>
            <a:ext cx="2441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000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Setup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508760" y="2295144"/>
            <a:ext cx="2441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One-command bootstrap of a governed, AI-ready repo.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98264" y="1691640"/>
            <a:ext cx="3493008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ro-RO"/>
          </a:p>
        </p:txBody>
      </p:sp>
      <p:sp>
        <p:nvSpPr>
          <p:cNvPr id="9" name="Text 7"/>
          <p:cNvSpPr/>
          <p:nvPr/>
        </p:nvSpPr>
        <p:spPr>
          <a:xfrm>
            <a:off x="4636008" y="189280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9013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266944" y="1892808"/>
            <a:ext cx="2441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000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Onboarding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266944" y="2295144"/>
            <a:ext cx="2441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Per-user first run installs tooling and writes USER.md.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56448" y="1691640"/>
            <a:ext cx="3493008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ro-RO"/>
          </a:p>
        </p:txBody>
      </p:sp>
      <p:sp>
        <p:nvSpPr>
          <p:cNvPr id="13" name="Text 11"/>
          <p:cNvSpPr/>
          <p:nvPr/>
        </p:nvSpPr>
        <p:spPr>
          <a:xfrm>
            <a:off x="8394192" y="189280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9013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025128" y="1892808"/>
            <a:ext cx="2441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000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Governance &amp; rules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9025128" y="2295144"/>
            <a:ext cx="2441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One canonical brief, trust tiers, scoped-write MCP.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191256"/>
            <a:ext cx="3493008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ro-RO"/>
          </a:p>
        </p:txBody>
      </p:sp>
      <p:sp>
        <p:nvSpPr>
          <p:cNvPr id="17" name="Text 15"/>
          <p:cNvSpPr/>
          <p:nvPr/>
        </p:nvSpPr>
        <p:spPr>
          <a:xfrm>
            <a:off x="877824" y="3392424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9013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508760" y="3392424"/>
            <a:ext cx="2441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000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CI/CD for AI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508760" y="3794760"/>
            <a:ext cx="2441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Rules expressed as scripts, enforced as merge gates.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98264" y="3191256"/>
            <a:ext cx="3493008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ro-RO"/>
          </a:p>
        </p:txBody>
      </p:sp>
      <p:sp>
        <p:nvSpPr>
          <p:cNvPr id="21" name="Text 19"/>
          <p:cNvSpPr/>
          <p:nvPr/>
        </p:nvSpPr>
        <p:spPr>
          <a:xfrm>
            <a:off x="4636008" y="3392424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9013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266944" y="3392424"/>
            <a:ext cx="2441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000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Knowledge layer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5266944" y="3794760"/>
            <a:ext cx="2441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Sources → graph / RAG / vector; agents ground &amp; cite.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156448" y="3191256"/>
            <a:ext cx="3493008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ro-RO"/>
          </a:p>
        </p:txBody>
      </p:sp>
      <p:sp>
        <p:nvSpPr>
          <p:cNvPr id="25" name="Text 23"/>
          <p:cNvSpPr/>
          <p:nvPr/>
        </p:nvSpPr>
        <p:spPr>
          <a:xfrm>
            <a:off x="8394192" y="3392424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9013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6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025128" y="3392424"/>
            <a:ext cx="2441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000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Roles × Skills × MCP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9025128" y="3794760"/>
            <a:ext cx="2441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Each seat = an invokable skill + scoped connectors.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4690872"/>
            <a:ext cx="3493008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ro-RO"/>
          </a:p>
        </p:txBody>
      </p:sp>
      <p:sp>
        <p:nvSpPr>
          <p:cNvPr id="29" name="Text 27"/>
          <p:cNvSpPr/>
          <p:nvPr/>
        </p:nvSpPr>
        <p:spPr>
          <a:xfrm>
            <a:off x="877824" y="48920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9013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7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1508760" y="4892040"/>
            <a:ext cx="2441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000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Human methodology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1508760" y="5294376"/>
            <a:ext cx="2441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Dashboard + retro turn usage into improvements.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156448" y="4690872"/>
            <a:ext cx="3493008" cy="1280160"/>
          </a:xfrm>
          <a:prstGeom prst="roundRect">
            <a:avLst>
              <a:gd name="adj" fmla="val 7143"/>
            </a:avLst>
          </a:prstGeom>
          <a:solidFill>
            <a:srgbClr val="E90130"/>
          </a:solidFill>
          <a:ln/>
        </p:spPr>
        <p:txBody>
          <a:bodyPr/>
          <a:lstStyle/>
          <a:p>
            <a:endParaRPr lang="ro-RO"/>
          </a:p>
        </p:txBody>
      </p:sp>
      <p:sp>
        <p:nvSpPr>
          <p:cNvPr id="33" name="Text 31"/>
          <p:cNvSpPr/>
          <p:nvPr/>
        </p:nvSpPr>
        <p:spPr>
          <a:xfrm>
            <a:off x="8430768" y="4873752"/>
            <a:ext cx="29443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i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Each pillar ships at least one runnable or enforceable artefact — not just prose.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40080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100" dirty="0">
                <a:solidFill>
                  <a:srgbClr val="6B6B6B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AI-SDLC BOOTSTRAP KIT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0362895" y="647395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6B6B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04 / 19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PILLAR 5 · KNOWLEDGE LAYER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Ground, don't guess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D9D9D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Project sources are ingested into a queryable store. Agents answer from it and cite the source's trust tier — instead of guessing from memory.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88920"/>
            <a:ext cx="3364992" cy="2240280"/>
          </a:xfrm>
          <a:prstGeom prst="roundRect">
            <a:avLst>
              <a:gd name="adj" fmla="val 4082"/>
            </a:avLst>
          </a:prstGeom>
          <a:solidFill>
            <a:srgbClr val="141414"/>
          </a:solidFill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9013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520440"/>
            <a:ext cx="2816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Sources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4014216"/>
            <a:ext cx="2816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BDBDB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Docs, ADRs, standards, stakeholder input — frontmatter carries the trust tier.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26332" y="356616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›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4413352" y="2788920"/>
            <a:ext cx="3364992" cy="2240280"/>
          </a:xfrm>
          <a:prstGeom prst="roundRect">
            <a:avLst>
              <a:gd name="adj" fmla="val 4082"/>
            </a:avLst>
          </a:prstGeom>
          <a:solidFill>
            <a:srgbClr val="141414"/>
          </a:solidFill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11" name="Text 9"/>
          <p:cNvSpPr/>
          <p:nvPr/>
        </p:nvSpPr>
        <p:spPr>
          <a:xfrm>
            <a:off x="4687672" y="30175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9013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87672" y="3520440"/>
            <a:ext cx="2816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Ingest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87672" y="4014216"/>
            <a:ext cx="2816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BDBDB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Chunk + index. Runs on a fresh clone with no external services; upgrades to embeddings or a knowledge MCP.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99603" y="356616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›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8186623" y="2788920"/>
            <a:ext cx="3364992" cy="2240280"/>
          </a:xfrm>
          <a:prstGeom prst="roundRect">
            <a:avLst>
              <a:gd name="adj" fmla="val 4082"/>
            </a:avLst>
          </a:prstGeom>
          <a:solidFill>
            <a:srgbClr val="141414"/>
          </a:solidFill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16" name="Text 14"/>
          <p:cNvSpPr/>
          <p:nvPr/>
        </p:nvSpPr>
        <p:spPr>
          <a:xfrm>
            <a:off x="8460943" y="30175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9013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460943" y="3520440"/>
            <a:ext cx="2816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Knowledge graph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460943" y="4014216"/>
            <a:ext cx="2816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BDBDB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store agents query for grounded, citable context — .knowledge/graph.db (now a graph, not just keywords).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54406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A8C9A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scripts/knowledge/ingest.py — runnable on day one.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100" dirty="0">
                <a:solidFill>
                  <a:srgbClr val="FBBFC8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AI-SDLC BOOTSTRAP KIT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362895" y="647395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BBFC8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05 / 19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9013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PILLAR 6 · ROLES × SKILLS × MCP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3100" b="1" dirty="0">
                <a:solidFill>
                  <a:srgbClr val="E9013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Scoped capability per role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664208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Five named seats. Each carries an invokable role-contract skill and a scoped set of MCP connectors — who owns what, which skills they invoke, which tools they may act in.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2121408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ro-RO"/>
          </a:p>
        </p:txBody>
      </p:sp>
      <p:sp>
        <p:nvSpPr>
          <p:cNvPr id="6" name="Text 4"/>
          <p:cNvSpPr/>
          <p:nvPr/>
        </p:nvSpPr>
        <p:spPr>
          <a:xfrm>
            <a:off x="640080" y="2770632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9013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Architect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68096" y="3264408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Shape · ADRs · standards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837612" y="2514600"/>
            <a:ext cx="2121408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ro-RO"/>
          </a:p>
        </p:txBody>
      </p:sp>
      <p:sp>
        <p:nvSpPr>
          <p:cNvPr id="9" name="Text 7"/>
          <p:cNvSpPr/>
          <p:nvPr/>
        </p:nvSpPr>
        <p:spPr>
          <a:xfrm>
            <a:off x="2837612" y="2770632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9013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EM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965628" y="3264408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Repos · CI · capacity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35144" y="2514600"/>
            <a:ext cx="2121408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ro-RO"/>
          </a:p>
        </p:txBody>
      </p:sp>
      <p:sp>
        <p:nvSpPr>
          <p:cNvPr id="12" name="Text 10"/>
          <p:cNvSpPr/>
          <p:nvPr/>
        </p:nvSpPr>
        <p:spPr>
          <a:xfrm>
            <a:off x="5035144" y="2770632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9013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Product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163160" y="3264408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Scope · backlog · roadmap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232675" y="2514600"/>
            <a:ext cx="2121408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ro-RO"/>
          </a:p>
        </p:txBody>
      </p:sp>
      <p:sp>
        <p:nvSpPr>
          <p:cNvPr id="15" name="Text 13"/>
          <p:cNvSpPr/>
          <p:nvPr/>
        </p:nvSpPr>
        <p:spPr>
          <a:xfrm>
            <a:off x="7232675" y="2770632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9013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Developer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360691" y="3264408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Implementation · tests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430207" y="2514600"/>
            <a:ext cx="2121408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ro-RO"/>
          </a:p>
        </p:txBody>
      </p:sp>
      <p:sp>
        <p:nvSpPr>
          <p:cNvPr id="18" name="Text 16"/>
          <p:cNvSpPr/>
          <p:nvPr/>
        </p:nvSpPr>
        <p:spPr>
          <a:xfrm>
            <a:off x="9430207" y="2770632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9013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QA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558223" y="3264408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Strategy · gates · traceability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" y="4297680"/>
            <a:ext cx="5230368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ro-RO"/>
          </a:p>
        </p:txBody>
      </p:sp>
      <p:sp>
        <p:nvSpPr>
          <p:cNvPr id="21" name="Text 19"/>
          <p:cNvSpPr/>
          <p:nvPr/>
        </p:nvSpPr>
        <p:spPr>
          <a:xfrm>
            <a:off x="932688" y="451713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Invokable skills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32688" y="4956048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9013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.claude/skills/playbook-&lt;seat&gt;</a:t>
            </a:r>
            <a:r>
              <a:rPr lang="en-US" sz="11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— auto-discovered, conform to the agentskills.io spec.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199632" y="4297680"/>
            <a:ext cx="5230368" cy="1371600"/>
          </a:xfrm>
          <a:prstGeom prst="roundRect">
            <a:avLst>
              <a:gd name="adj" fmla="val 6667"/>
            </a:avLst>
          </a:prstGeom>
          <a:solidFill>
            <a:srgbClr val="F5F5F5"/>
          </a:solidFill>
          <a:ln w="9525">
            <a:solidFill>
              <a:srgbClr val="D9D9D9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ro-RO"/>
          </a:p>
        </p:txBody>
      </p:sp>
      <p:sp>
        <p:nvSpPr>
          <p:cNvPr id="24" name="Text 22"/>
          <p:cNvSpPr/>
          <p:nvPr/>
        </p:nvSpPr>
        <p:spPr>
          <a:xfrm>
            <a:off x="6492240" y="451713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Scoped MCP connectors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492240" y="4956048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9013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.mcp.json</a:t>
            </a:r>
            <a:r>
              <a:rPr lang="en-US" sz="11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— tracker · wiki · knowledge · docs, scoped per seat.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40080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100" dirty="0">
                <a:solidFill>
                  <a:srgbClr val="6B6B6B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AI-SDLC BOOTSTRAP KIT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0362895" y="647395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6B6B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06 / 19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9013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PILLAR 3 · GOVERNANCE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3100" b="1" dirty="0">
                <a:solidFill>
                  <a:srgbClr val="E9013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Governance &amp; trust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Trust tiers — what an AI may rely on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52120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ro-RO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109728" cy="658368"/>
          </a:xfrm>
          <a:prstGeom prst="rect">
            <a:avLst/>
          </a:prstGeom>
          <a:solidFill>
            <a:srgbClr val="E90130"/>
          </a:solidFill>
          <a:ln/>
        </p:spPr>
        <p:txBody>
          <a:bodyPr/>
          <a:lstStyle/>
          <a:p>
            <a:endParaRPr lang="ro-RO"/>
          </a:p>
        </p:txBody>
      </p:sp>
      <p:sp>
        <p:nvSpPr>
          <p:cNvPr id="7" name="Text 5"/>
          <p:cNvSpPr/>
          <p:nvPr/>
        </p:nvSpPr>
        <p:spPr>
          <a:xfrm>
            <a:off x="932688" y="230428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000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Authoritative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3108960" y="2340864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6B6B6B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cite directly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2980944"/>
            <a:ext cx="52120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ro-RO"/>
          </a:p>
        </p:txBody>
      </p:sp>
      <p:sp>
        <p:nvSpPr>
          <p:cNvPr id="10" name="Shape 8"/>
          <p:cNvSpPr/>
          <p:nvPr/>
        </p:nvSpPr>
        <p:spPr>
          <a:xfrm>
            <a:off x="640080" y="2980944"/>
            <a:ext cx="109728" cy="658368"/>
          </a:xfrm>
          <a:prstGeom prst="rect">
            <a:avLst/>
          </a:prstGeom>
          <a:solidFill>
            <a:srgbClr val="AE0021"/>
          </a:solidFill>
          <a:ln/>
        </p:spPr>
        <p:txBody>
          <a:bodyPr/>
          <a:lstStyle/>
          <a:p>
            <a:endParaRPr lang="ro-RO"/>
          </a:p>
        </p:txBody>
      </p:sp>
      <p:sp>
        <p:nvSpPr>
          <p:cNvPr id="11" name="Text 9"/>
          <p:cNvSpPr/>
          <p:nvPr/>
        </p:nvSpPr>
        <p:spPr>
          <a:xfrm>
            <a:off x="932688" y="309067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000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Working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3108960" y="312724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6B6B6B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cite + status flag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3767328"/>
            <a:ext cx="52120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ro-RO"/>
          </a:p>
        </p:txBody>
      </p:sp>
      <p:sp>
        <p:nvSpPr>
          <p:cNvPr id="14" name="Shape 12"/>
          <p:cNvSpPr/>
          <p:nvPr/>
        </p:nvSpPr>
        <p:spPr>
          <a:xfrm>
            <a:off x="640080" y="3767328"/>
            <a:ext cx="109728" cy="658368"/>
          </a:xfrm>
          <a:prstGeom prst="rect">
            <a:avLst/>
          </a:prstGeom>
          <a:solidFill>
            <a:srgbClr val="6B6B6B"/>
          </a:solidFill>
          <a:ln/>
        </p:spPr>
        <p:txBody>
          <a:bodyPr/>
          <a:lstStyle/>
          <a:p>
            <a:endParaRPr lang="ro-RO"/>
          </a:p>
        </p:txBody>
      </p:sp>
      <p:sp>
        <p:nvSpPr>
          <p:cNvPr id="15" name="Text 13"/>
          <p:cNvSpPr/>
          <p:nvPr/>
        </p:nvSpPr>
        <p:spPr>
          <a:xfrm>
            <a:off x="932688" y="387705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000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Exploratory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3108960" y="391363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6B6B6B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read only if named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553712"/>
            <a:ext cx="52120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ro-RO"/>
          </a:p>
        </p:txBody>
      </p:sp>
      <p:sp>
        <p:nvSpPr>
          <p:cNvPr id="18" name="Shape 16"/>
          <p:cNvSpPr/>
          <p:nvPr/>
        </p:nvSpPr>
        <p:spPr>
          <a:xfrm>
            <a:off x="640080" y="4553712"/>
            <a:ext cx="109728" cy="658368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ro-RO"/>
          </a:p>
        </p:txBody>
      </p:sp>
      <p:sp>
        <p:nvSpPr>
          <p:cNvPr id="19" name="Text 17"/>
          <p:cNvSpPr/>
          <p:nvPr/>
        </p:nvSpPr>
        <p:spPr>
          <a:xfrm>
            <a:off x="932688" y="4663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000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Restricted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3108960" y="4700016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6B6B6B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path-referenced only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309360" y="16916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Scoped-write posture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309360" y="2194560"/>
            <a:ext cx="5239512" cy="969264"/>
          </a:xfrm>
          <a:prstGeom prst="roundRect">
            <a:avLst>
              <a:gd name="adj" fmla="val 7547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ro-RO"/>
          </a:p>
        </p:txBody>
      </p:sp>
      <p:sp>
        <p:nvSpPr>
          <p:cNvPr id="23" name="Text 21"/>
          <p:cNvSpPr/>
          <p:nvPr/>
        </p:nvSpPr>
        <p:spPr>
          <a:xfrm>
            <a:off x="6583680" y="234086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One canonical brief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583680" y="269748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080" dirty="0">
                <a:solidFill>
                  <a:srgbClr val="D9D9D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AGENTS.md is the single source of truth; CLAUDE.md is a thin pointer that can't drift.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6309360" y="3291840"/>
            <a:ext cx="5239512" cy="969264"/>
          </a:xfrm>
          <a:prstGeom prst="roundRect">
            <a:avLst>
              <a:gd name="adj" fmla="val 7547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ro-RO"/>
          </a:p>
        </p:txBody>
      </p:sp>
      <p:sp>
        <p:nvSpPr>
          <p:cNvPr id="26" name="Text 24"/>
          <p:cNvSpPr/>
          <p:nvPr/>
        </p:nvSpPr>
        <p:spPr>
          <a:xfrm>
            <a:off x="6583680" y="343814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Attributable, never silent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583680" y="379476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080" dirty="0">
                <a:solidFill>
                  <a:srgbClr val="D9D9D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AI write to a load-bearing artefact has a named seat and a reviewable trail.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6309360" y="4389120"/>
            <a:ext cx="5239512" cy="969264"/>
          </a:xfrm>
          <a:prstGeom prst="roundRect">
            <a:avLst>
              <a:gd name="adj" fmla="val 7547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ro-RO"/>
          </a:p>
        </p:txBody>
      </p:sp>
      <p:sp>
        <p:nvSpPr>
          <p:cNvPr id="29" name="Text 27"/>
          <p:cNvSpPr/>
          <p:nvPr/>
        </p:nvSpPr>
        <p:spPr>
          <a:xfrm>
            <a:off x="6583680" y="453542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Humans hold the keys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583680" y="489204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080" dirty="0">
                <a:solidFill>
                  <a:srgbClr val="D9D9D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Promotion, sign-off, and merges to protected branches stay human.</a:t>
            </a:r>
            <a:endParaRPr lang="en-US" sz="1080" dirty="0"/>
          </a:p>
        </p:txBody>
      </p:sp>
      <p:sp>
        <p:nvSpPr>
          <p:cNvPr id="31" name="Text 29"/>
          <p:cNvSpPr/>
          <p:nvPr/>
        </p:nvSpPr>
        <p:spPr>
          <a:xfrm>
            <a:off x="640080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100" dirty="0">
                <a:solidFill>
                  <a:srgbClr val="6B6B6B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AI-SDLC BOOTSTRAP KIT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0362895" y="647395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6B6B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07 / 19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9013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PILLAR 4 · CI/CD FOR AI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3100" b="1" dirty="0">
                <a:solidFill>
                  <a:srgbClr val="E9013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Rules as scripts, enforced as gates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664208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Governance rules are runnable scripts. Local pre-commit gives fast feedback; CI is the non-bypassable merge gate.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3493008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ro-RO"/>
          </a:p>
        </p:txBody>
      </p:sp>
      <p:sp>
        <p:nvSpPr>
          <p:cNvPr id="6" name="Text 4"/>
          <p:cNvSpPr/>
          <p:nvPr/>
        </p:nvSpPr>
        <p:spPr>
          <a:xfrm>
            <a:off x="896112" y="2633472"/>
            <a:ext cx="3035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9013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validate-skills.py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96112" y="3127248"/>
            <a:ext cx="2212848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8" name="Text 6"/>
          <p:cNvSpPr/>
          <p:nvPr/>
        </p:nvSpPr>
        <p:spPr>
          <a:xfrm>
            <a:off x="896112" y="3246120"/>
            <a:ext cx="29900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skill conforms to the agentskills.io spec.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98264" y="2377440"/>
            <a:ext cx="3493008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ro-RO"/>
          </a:p>
        </p:txBody>
      </p:sp>
      <p:sp>
        <p:nvSpPr>
          <p:cNvPr id="10" name="Text 8"/>
          <p:cNvSpPr/>
          <p:nvPr/>
        </p:nvSpPr>
        <p:spPr>
          <a:xfrm>
            <a:off x="4654296" y="2633472"/>
            <a:ext cx="3035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9013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validate-frontmatter.py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654296" y="3127248"/>
            <a:ext cx="2212848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12" name="Text 10"/>
          <p:cNvSpPr/>
          <p:nvPr/>
        </p:nvSpPr>
        <p:spPr>
          <a:xfrm>
            <a:off x="4654296" y="3246120"/>
            <a:ext cx="29900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governed doc carries the trust / maturity contract.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56448" y="2377440"/>
            <a:ext cx="3493008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ro-RO"/>
          </a:p>
        </p:txBody>
      </p:sp>
      <p:sp>
        <p:nvSpPr>
          <p:cNvPr id="14" name="Text 12"/>
          <p:cNvSpPr/>
          <p:nvPr/>
        </p:nvSpPr>
        <p:spPr>
          <a:xfrm>
            <a:off x="8412480" y="2633472"/>
            <a:ext cx="3035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9013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commit_msg_ticket.py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412480" y="3127248"/>
            <a:ext cx="2212848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16" name="Text 14"/>
          <p:cNvSpPr/>
          <p:nvPr/>
        </p:nvSpPr>
        <p:spPr>
          <a:xfrm>
            <a:off x="8412480" y="3246120"/>
            <a:ext cx="29900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commit references an issue key, linking code to work.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0080" y="429768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Newer validators:  </a:t>
            </a:r>
            <a:r>
              <a:rPr lang="en-US" sz="1150" dirty="0">
                <a:solidFill>
                  <a:srgbClr val="6B6B6B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validate-moments.py · validate-seat-profiles.py · check-brief-churn.py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" y="4846320"/>
            <a:ext cx="10911535" cy="841248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ro-RO"/>
          </a:p>
        </p:txBody>
      </p:sp>
      <p:sp>
        <p:nvSpPr>
          <p:cNvPr id="19" name="Text 17"/>
          <p:cNvSpPr/>
          <p:nvPr/>
        </p:nvSpPr>
        <p:spPr>
          <a:xfrm>
            <a:off x="914400" y="4846320"/>
            <a:ext cx="103628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013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Same scripts, two homes:  </a:t>
            </a:r>
            <a:r>
              <a:rPr lang="en-US" sz="13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.pre-commit-config.yaml (fast, local)  →  ai-governance.yml (non-bypassable merge gate).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100" dirty="0">
                <a:solidFill>
                  <a:srgbClr val="6B6B6B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AI-SDLC BOOTSTRAP KIT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362895" y="647395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6B6B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08 / 19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THE SESSION RITUAL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Repo → Edit → Pull Request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D9D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session follows the same lightweight loop, so authorship and review stay consistent.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51760"/>
            <a:ext cx="1975104" cy="2148840"/>
          </a:xfrm>
          <a:prstGeom prst="roundRect">
            <a:avLst>
              <a:gd name="adj" fmla="val 4630"/>
            </a:avLst>
          </a:prstGeom>
          <a:solidFill>
            <a:srgbClr val="141414"/>
          </a:solidFill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6" name="Text 4"/>
          <p:cNvSpPr/>
          <p:nvPr/>
        </p:nvSpPr>
        <p:spPr>
          <a:xfrm>
            <a:off x="640080" y="2889504"/>
            <a:ext cx="1975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9013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3584448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Start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86384" y="3968496"/>
            <a:ext cx="16824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20" dirty="0">
                <a:solidFill>
                  <a:srgbClr val="BDBDB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Confirm seat. Print branch &amp; sync state.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2561806" y="35204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›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2874188" y="2651760"/>
            <a:ext cx="1975104" cy="2148840"/>
          </a:xfrm>
          <a:prstGeom prst="roundRect">
            <a:avLst>
              <a:gd name="adj" fmla="val 4630"/>
            </a:avLst>
          </a:prstGeom>
          <a:solidFill>
            <a:srgbClr val="141414"/>
          </a:solidFill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11" name="Text 9"/>
          <p:cNvSpPr/>
          <p:nvPr/>
        </p:nvSpPr>
        <p:spPr>
          <a:xfrm>
            <a:off x="2874188" y="2889504"/>
            <a:ext cx="1975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9013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874188" y="3584448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Ground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020492" y="3968496"/>
            <a:ext cx="16824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20" dirty="0">
                <a:solidFill>
                  <a:srgbClr val="BDBDB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Answer from the knowledge layer; cite the tier.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4795914" y="35204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›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5108296" y="2651760"/>
            <a:ext cx="1975104" cy="2148840"/>
          </a:xfrm>
          <a:prstGeom prst="roundRect">
            <a:avLst>
              <a:gd name="adj" fmla="val 4630"/>
            </a:avLst>
          </a:prstGeom>
          <a:solidFill>
            <a:srgbClr val="141414"/>
          </a:solidFill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16" name="Text 14"/>
          <p:cNvSpPr/>
          <p:nvPr/>
        </p:nvSpPr>
        <p:spPr>
          <a:xfrm>
            <a:off x="5108296" y="2889504"/>
            <a:ext cx="1975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9013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108296" y="3584448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Edit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254600" y="3968496"/>
            <a:ext cx="16824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20" dirty="0">
                <a:solidFill>
                  <a:srgbClr val="BDBDB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 on a branch. Frontmatter: owner = seat.</a:t>
            </a:r>
            <a:endParaRPr lang="en-US" sz="1020" dirty="0"/>
          </a:p>
        </p:txBody>
      </p:sp>
      <p:sp>
        <p:nvSpPr>
          <p:cNvPr id="19" name="Text 17"/>
          <p:cNvSpPr/>
          <p:nvPr/>
        </p:nvSpPr>
        <p:spPr>
          <a:xfrm>
            <a:off x="7030022" y="35204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›</a:t>
            </a:r>
            <a:endParaRPr lang="en-US" sz="2800" dirty="0"/>
          </a:p>
        </p:txBody>
      </p:sp>
      <p:sp>
        <p:nvSpPr>
          <p:cNvPr id="20" name="Shape 18"/>
          <p:cNvSpPr/>
          <p:nvPr/>
        </p:nvSpPr>
        <p:spPr>
          <a:xfrm>
            <a:off x="7342403" y="2651760"/>
            <a:ext cx="1975104" cy="2148840"/>
          </a:xfrm>
          <a:prstGeom prst="roundRect">
            <a:avLst>
              <a:gd name="adj" fmla="val 4630"/>
            </a:avLst>
          </a:prstGeom>
          <a:solidFill>
            <a:srgbClr val="141414"/>
          </a:solidFill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21" name="Text 19"/>
          <p:cNvSpPr/>
          <p:nvPr/>
        </p:nvSpPr>
        <p:spPr>
          <a:xfrm>
            <a:off x="7342403" y="2889504"/>
            <a:ext cx="1975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9013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342403" y="3584448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Gate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488707" y="3968496"/>
            <a:ext cx="16824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20" dirty="0">
                <a:solidFill>
                  <a:srgbClr val="BDBDB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Pre-commit runs the governance checks.</a:t>
            </a:r>
            <a:endParaRPr lang="en-US" sz="1020" dirty="0"/>
          </a:p>
        </p:txBody>
      </p:sp>
      <p:sp>
        <p:nvSpPr>
          <p:cNvPr id="24" name="Text 22"/>
          <p:cNvSpPr/>
          <p:nvPr/>
        </p:nvSpPr>
        <p:spPr>
          <a:xfrm>
            <a:off x="9264129" y="35204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›</a:t>
            </a:r>
            <a:endParaRPr lang="en-US" sz="2800" dirty="0"/>
          </a:p>
        </p:txBody>
      </p:sp>
      <p:sp>
        <p:nvSpPr>
          <p:cNvPr id="25" name="Shape 23"/>
          <p:cNvSpPr/>
          <p:nvPr/>
        </p:nvSpPr>
        <p:spPr>
          <a:xfrm>
            <a:off x="9576511" y="2651760"/>
            <a:ext cx="1975104" cy="2148840"/>
          </a:xfrm>
          <a:prstGeom prst="roundRect">
            <a:avLst>
              <a:gd name="adj" fmla="val 4630"/>
            </a:avLst>
          </a:prstGeom>
          <a:solidFill>
            <a:srgbClr val="141414"/>
          </a:solidFill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26" name="Text 24"/>
          <p:cNvSpPr/>
          <p:nvPr/>
        </p:nvSpPr>
        <p:spPr>
          <a:xfrm>
            <a:off x="9576511" y="2889504"/>
            <a:ext cx="1975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9013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5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9576511" y="3584448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Pull Request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722815" y="3968496"/>
            <a:ext cx="16824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20" dirty="0">
                <a:solidFill>
                  <a:srgbClr val="BDBDB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Commit, push, open a PR. Merge is human-reviewed.</a:t>
            </a:r>
            <a:endParaRPr lang="en-US" sz="1020" dirty="0"/>
          </a:p>
        </p:txBody>
      </p:sp>
      <p:sp>
        <p:nvSpPr>
          <p:cNvPr id="29" name="Text 27"/>
          <p:cNvSpPr/>
          <p:nvPr/>
        </p:nvSpPr>
        <p:spPr>
          <a:xfrm>
            <a:off x="640080" y="523036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FA8C9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never pushes a protected branch. Every change is attributable to a named seat.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40080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100" dirty="0">
                <a:solidFill>
                  <a:srgbClr val="FBBFC8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AI-SDLC BOOTSTRAP KIT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0362895" y="647395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BBFC8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09 / 19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9013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PILLAR 7 · MEASUREMENT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3100" b="1" dirty="0">
                <a:solidFill>
                  <a:srgbClr val="E9013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can't improve what you don't measure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664208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running Streamlit + SQLite dashboard renders on a fresh clone, then feeds on your real sessions. Volume is never read alone — it always sits next to rework.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2542032" cy="1325880"/>
          </a:xfrm>
          <a:prstGeom prst="roundRect">
            <a:avLst>
              <a:gd name="adj" fmla="val 6897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ro-RO"/>
          </a:p>
        </p:txBody>
      </p:sp>
      <p:sp>
        <p:nvSpPr>
          <p:cNvPr id="6" name="Text 4"/>
          <p:cNvSpPr/>
          <p:nvPr/>
        </p:nvSpPr>
        <p:spPr>
          <a:xfrm>
            <a:off x="640080" y="2651760"/>
            <a:ext cx="2542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9013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68%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40080" y="3337560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Acceptance rate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29914" y="2468880"/>
            <a:ext cx="2542032" cy="1325880"/>
          </a:xfrm>
          <a:prstGeom prst="roundRect">
            <a:avLst>
              <a:gd name="adj" fmla="val 6897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ro-RO"/>
          </a:p>
        </p:txBody>
      </p:sp>
      <p:sp>
        <p:nvSpPr>
          <p:cNvPr id="9" name="Text 7"/>
          <p:cNvSpPr/>
          <p:nvPr/>
        </p:nvSpPr>
        <p:spPr>
          <a:xfrm>
            <a:off x="3429914" y="2651760"/>
            <a:ext cx="2542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9013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€0.21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429914" y="3337560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Cost / accepted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19749" y="2468880"/>
            <a:ext cx="2542032" cy="1325880"/>
          </a:xfrm>
          <a:prstGeom prst="roundRect">
            <a:avLst>
              <a:gd name="adj" fmla="val 6897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ro-RO"/>
          </a:p>
        </p:txBody>
      </p:sp>
      <p:sp>
        <p:nvSpPr>
          <p:cNvPr id="12" name="Text 10"/>
          <p:cNvSpPr/>
          <p:nvPr/>
        </p:nvSpPr>
        <p:spPr>
          <a:xfrm>
            <a:off x="6219749" y="2651760"/>
            <a:ext cx="2542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9013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12%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219749" y="3337560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Rework rate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009583" y="2468880"/>
            <a:ext cx="2542032" cy="1325880"/>
          </a:xfrm>
          <a:prstGeom prst="roundRect">
            <a:avLst>
              <a:gd name="adj" fmla="val 6897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ro-RO"/>
          </a:p>
        </p:txBody>
      </p:sp>
      <p:sp>
        <p:nvSpPr>
          <p:cNvPr id="15" name="Text 13"/>
          <p:cNvSpPr/>
          <p:nvPr/>
        </p:nvSpPr>
        <p:spPr>
          <a:xfrm>
            <a:off x="9009583" y="2651760"/>
            <a:ext cx="2542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9013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83%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9009583" y="3337560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Grounding rate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0080" y="391363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B6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* illustrative — seeded demo data; swap in real figures before presenting.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4343400"/>
            <a:ext cx="10911535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ro-RO"/>
          </a:p>
        </p:txBody>
      </p:sp>
      <p:sp>
        <p:nvSpPr>
          <p:cNvPr id="19" name="Text 17"/>
          <p:cNvSpPr/>
          <p:nvPr/>
        </p:nvSpPr>
        <p:spPr>
          <a:xfrm>
            <a:off x="932688" y="44988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9013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Four views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32688" y="4892040"/>
            <a:ext cx="103628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Utilization</a:t>
            </a:r>
            <a:r>
              <a:rPr lang="en-US" sz="1250" dirty="0">
                <a:solidFill>
                  <a:srgbClr val="6B6B6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sessions, acceptance, grounding   ·   </a:t>
            </a:r>
            <a:r>
              <a:rPr lang="en-US" sz="125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Attribution</a:t>
            </a:r>
            <a:r>
              <a:rPr lang="en-US" sz="1250" dirty="0">
                <a:solidFill>
                  <a:srgbClr val="6B6B6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AI / mixed / human commits   ·   </a:t>
            </a:r>
            <a:r>
              <a:rPr lang="en-US" sz="125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Waste signals</a:t>
            </a:r>
            <a:r>
              <a:rPr lang="en-US" sz="1250" dirty="0">
                <a:solidFill>
                  <a:srgbClr val="6B6B6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cost per accepted outcome   ·   </a:t>
            </a:r>
            <a:r>
              <a:rPr lang="en-US" sz="125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ROI</a:t>
            </a:r>
            <a:r>
              <a:rPr lang="en-US" sz="1250" dirty="0">
                <a:solidFill>
                  <a:srgbClr val="6B6B6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human-day-equivalent over closed tickets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0080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100" dirty="0">
                <a:solidFill>
                  <a:srgbClr val="6B6B6B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AI-SDLC BOOTSTRAP KIT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362895" y="647395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6B6B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10 / 19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9013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NEW · TOKEN ECONOMY &amp; ROI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3100" b="1" dirty="0">
                <a:solidFill>
                  <a:srgbClr val="E9013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the AI spending worth another developer?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911535" cy="1234440"/>
          </a:xfrm>
          <a:prstGeom prst="roundRect">
            <a:avLst>
              <a:gd name="adj" fmla="val 7407"/>
            </a:avLst>
          </a:prstGeom>
          <a:solidFill>
            <a:srgbClr val="E90130"/>
          </a:solidFill>
          <a:ln/>
        </p:spPr>
        <p:txBody>
          <a:bodyPr/>
          <a:lstStyle/>
          <a:p>
            <a:endParaRPr lang="ro-RO"/>
          </a:p>
        </p:txBody>
      </p:sp>
      <p:sp>
        <p:nvSpPr>
          <p:cNvPr id="5" name="Text 3"/>
          <p:cNvSpPr/>
          <p:nvPr/>
        </p:nvSpPr>
        <p:spPr>
          <a:xfrm>
            <a:off x="1005840" y="1645920"/>
            <a:ext cx="1018001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“A human-day costs ~€500. If we add ~€500/day of AI spend, is the output worth 2PD — more, less — and what's the ROI?”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40080" y="3108960"/>
            <a:ext cx="3493008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ro-RO"/>
          </a:p>
        </p:txBody>
      </p:sp>
      <p:sp>
        <p:nvSpPr>
          <p:cNvPr id="7" name="Text 5"/>
          <p:cNvSpPr/>
          <p:nvPr/>
        </p:nvSpPr>
        <p:spPr>
          <a:xfrm>
            <a:off x="896112" y="3346704"/>
            <a:ext cx="30358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E9013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Human-day-equivalent (HDE)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96112" y="406908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18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ROI over per-ticket estimates, triangulated across four methods and tagged by evidence tier — calibration A/B &gt; pre-work estimate &gt; velocity &gt; post-hoc.</a:t>
            </a:r>
            <a:endParaRPr lang="en-US" sz="1180" dirty="0"/>
          </a:p>
        </p:txBody>
      </p:sp>
      <p:sp>
        <p:nvSpPr>
          <p:cNvPr id="9" name="Shape 7"/>
          <p:cNvSpPr/>
          <p:nvPr/>
        </p:nvSpPr>
        <p:spPr>
          <a:xfrm>
            <a:off x="4398264" y="3108960"/>
            <a:ext cx="3493008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ro-RO"/>
          </a:p>
        </p:txBody>
      </p:sp>
      <p:sp>
        <p:nvSpPr>
          <p:cNvPr id="10" name="Text 8"/>
          <p:cNvSpPr/>
          <p:nvPr/>
        </p:nvSpPr>
        <p:spPr>
          <a:xfrm>
            <a:off x="4654296" y="3346704"/>
            <a:ext cx="30358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E9013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Four consumption sources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654296" y="406908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18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Sling CLI, Claude Code sessions (per-token), Anthropic API, Cursor/Copilot (invoice), Max seats (flat-rate) — each with a granularity honesty flag.</a:t>
            </a:r>
            <a:endParaRPr lang="en-US" sz="1180" dirty="0"/>
          </a:p>
        </p:txBody>
      </p:sp>
      <p:sp>
        <p:nvSpPr>
          <p:cNvPr id="12" name="Shape 10"/>
          <p:cNvSpPr/>
          <p:nvPr/>
        </p:nvSpPr>
        <p:spPr>
          <a:xfrm>
            <a:off x="8156448" y="3108960"/>
            <a:ext cx="3493008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ro-RO"/>
          </a:p>
        </p:txBody>
      </p:sp>
      <p:sp>
        <p:nvSpPr>
          <p:cNvPr id="13" name="Text 11"/>
          <p:cNvSpPr/>
          <p:nvPr/>
        </p:nvSpPr>
        <p:spPr>
          <a:xfrm>
            <a:off x="8412480" y="3346704"/>
            <a:ext cx="30358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E9013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Client-facing ROI report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412480" y="406908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18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€-denominated report exported straight from the dashboard — a defensible number for a QBR, not a hand-wave.</a:t>
            </a:r>
            <a:endParaRPr lang="en-US" sz="1180" dirty="0"/>
          </a:p>
        </p:txBody>
      </p:sp>
      <p:sp>
        <p:nvSpPr>
          <p:cNvPr id="15" name="Text 13"/>
          <p:cNvSpPr/>
          <p:nvPr/>
        </p:nvSpPr>
        <p:spPr>
          <a:xfrm>
            <a:off x="640080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100" dirty="0">
                <a:solidFill>
                  <a:srgbClr val="6B6B6B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AI-SDLC BOOTSTRAP KIT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0362895" y="647395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6B6B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11 / 19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9013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MOMENTUM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3100" b="1" dirty="0">
                <a:solidFill>
                  <a:srgbClr val="E9013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kit keeps shipping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911535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ro-RO"/>
          </a:p>
        </p:txBody>
      </p:sp>
      <p:sp>
        <p:nvSpPr>
          <p:cNvPr id="5" name="Text 3"/>
          <p:cNvSpPr/>
          <p:nvPr/>
        </p:nvSpPr>
        <p:spPr>
          <a:xfrm>
            <a:off x="932688" y="190195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000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Token economy &amp; ROI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206240" y="192024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Consumption collectors + HDE ROI model + client export.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9951415" y="1911096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E90130"/>
          </a:solidFill>
          <a:ln w="12700">
            <a:solidFill>
              <a:srgbClr val="E90130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8" name="Text 6"/>
          <p:cNvSpPr/>
          <p:nvPr/>
        </p:nvSpPr>
        <p:spPr>
          <a:xfrm>
            <a:off x="9951415" y="191109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runnable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40080" y="2532888"/>
            <a:ext cx="10911535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ro-RO"/>
          </a:p>
        </p:txBody>
      </p:sp>
      <p:sp>
        <p:nvSpPr>
          <p:cNvPr id="10" name="Text 8"/>
          <p:cNvSpPr/>
          <p:nvPr/>
        </p:nvSpPr>
        <p:spPr>
          <a:xfrm>
            <a:off x="932688" y="26517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000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Knowledge graph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206240" y="2670048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graph.db replaces keyword-only ingest.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951415" y="2660904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E90130"/>
          </a:solidFill>
          <a:ln w="12700">
            <a:solidFill>
              <a:srgbClr val="E90130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13" name="Text 11"/>
          <p:cNvSpPr/>
          <p:nvPr/>
        </p:nvSpPr>
        <p:spPr>
          <a:xfrm>
            <a:off x="9951415" y="266090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runnable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40080" y="3282696"/>
            <a:ext cx="10911535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ro-RO"/>
          </a:p>
        </p:txBody>
      </p:sp>
      <p:sp>
        <p:nvSpPr>
          <p:cNvPr id="15" name="Text 13"/>
          <p:cNvSpPr/>
          <p:nvPr/>
        </p:nvSpPr>
        <p:spPr>
          <a:xfrm>
            <a:off x="932688" y="340156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000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Jira ledger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206240" y="3419856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work linked to the delivery system of record (scripts/jira/).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951415" y="3410712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E90130"/>
          </a:solidFill>
          <a:ln w="12700">
            <a:solidFill>
              <a:srgbClr val="E90130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18" name="Text 16"/>
          <p:cNvSpPr/>
          <p:nvPr/>
        </p:nvSpPr>
        <p:spPr>
          <a:xfrm>
            <a:off x="9951415" y="341071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runnable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40080" y="4032504"/>
            <a:ext cx="10911535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ro-RO"/>
          </a:p>
        </p:txBody>
      </p:sp>
      <p:sp>
        <p:nvSpPr>
          <p:cNvPr id="20" name="Text 18"/>
          <p:cNvSpPr/>
          <p:nvPr/>
        </p:nvSpPr>
        <p:spPr>
          <a:xfrm>
            <a:off x="932688" y="4151376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000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Tighter gates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4206240" y="4169664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New validators: moments, seat profiles, brief churn.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9951415" y="416052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E90130"/>
          </a:solidFill>
          <a:ln w="12700">
            <a:solidFill>
              <a:srgbClr val="E90130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23" name="Text 21"/>
          <p:cNvSpPr/>
          <p:nvPr/>
        </p:nvSpPr>
        <p:spPr>
          <a:xfrm>
            <a:off x="9951415" y="41605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runnable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40080" y="4782312"/>
            <a:ext cx="10911535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ro-RO"/>
          </a:p>
        </p:txBody>
      </p:sp>
      <p:sp>
        <p:nvSpPr>
          <p:cNvPr id="25" name="Text 23"/>
          <p:cNvSpPr/>
          <p:nvPr/>
        </p:nvSpPr>
        <p:spPr>
          <a:xfrm>
            <a:off x="932688" y="490118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000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Team session ledger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4206240" y="4919472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Per-user CSV ledgers commit with PRs and fold into one team view.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9951415" y="4910328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28" name="Text 26"/>
          <p:cNvSpPr/>
          <p:nvPr/>
        </p:nvSpPr>
        <p:spPr>
          <a:xfrm>
            <a:off x="9951415" y="491032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B6B6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latest design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0080" y="562356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6B6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Token ROI, graph, Jira ledger and validators are runnable in template/; the team ledger is the latest design.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40080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100" dirty="0">
                <a:solidFill>
                  <a:srgbClr val="6B6B6B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AI-SDLC BOOTSTRAP KIT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0362895" y="647395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6B6B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12 / 19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901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FFFFFF">
                    <a:alpha val="22000"/>
                  </a:srgbClr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640080" y="2468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STANDARDS &amp; INTEROPERABILITY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2834640"/>
            <a:ext cx="10607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We're not the only ones</a:t>
            </a:r>
            <a:endParaRPr lang="en-US" sz="4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formalising this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7091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E3E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Google Cloud's Open Knowledge Format (OKF), June 2026 — an emerging open standard for portable AI knowledge.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100" dirty="0">
                <a:solidFill>
                  <a:srgbClr val="FBBFC8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AI-SDLC BOOTSTRAP KIT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362895" y="647395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BBFC8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13 / 19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9013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OPEN KNOWLEDGE FORMAT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3100" b="1" dirty="0">
                <a:solidFill>
                  <a:srgbClr val="E9013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Knowledge as portable, versioned files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4206240" cy="3657600"/>
          </a:xfrm>
          <a:prstGeom prst="roundRect">
            <a:avLst>
              <a:gd name="adj" fmla="val 2500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ro-RO"/>
          </a:p>
        </p:txBody>
      </p:sp>
      <p:sp>
        <p:nvSpPr>
          <p:cNvPr id="5" name="Text 3"/>
          <p:cNvSpPr/>
          <p:nvPr/>
        </p:nvSpPr>
        <p:spPr>
          <a:xfrm>
            <a:off x="960120" y="2011680"/>
            <a:ext cx="3657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sales/
</a:t>
            </a:r>
            <a:r>
              <a:rPr lang="en-US" sz="1150" dirty="0">
                <a:solidFill>
                  <a:srgbClr val="BDBDBD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├── index.md
</a:t>
            </a:r>
            <a:r>
              <a:rPr lang="en-US" sz="11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├── tables/
</a:t>
            </a:r>
            <a:r>
              <a:rPr lang="en-US" sz="1150" dirty="0">
                <a:solidFill>
                  <a:srgbClr val="FA8C9A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│   ├── orders.md
│   └── customers.md
</a:t>
            </a:r>
            <a:r>
              <a:rPr lang="en-US" sz="11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└── metrics/
</a:t>
            </a:r>
            <a:r>
              <a:rPr lang="en-US" sz="1150" dirty="0">
                <a:solidFill>
                  <a:srgbClr val="FA8C9A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    └── weekly_active.md
</a:t>
            </a:r>
            <a:r>
              <a:rPr lang="en-US" sz="1150" dirty="0">
                <a:solidFill>
                  <a:srgbClr val="6B6B6B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--- YAML frontmatter ---
</a:t>
            </a:r>
            <a:r>
              <a:rPr lang="en-US" sz="11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type: BigQuery Table
</a:t>
            </a:r>
            <a:r>
              <a:rPr lang="en-US" sz="1150" dirty="0">
                <a:solidFill>
                  <a:srgbClr val="BDBDBD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title / description / tags
resource / timestamp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212080" y="1783080"/>
            <a:ext cx="6339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9013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Just markdown + YAML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212080" y="1985214"/>
            <a:ext cx="6339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bundle is a directory of .md concept docs. Renders on GitHub, indexable by any tool.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212080" y="2734056"/>
            <a:ext cx="6339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9013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Minimally opinionated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5212080" y="3008376"/>
            <a:ext cx="6339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One mandatory field (type); reserved title, description, resource, tags, timestamp; index.md + log.md.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212080" y="3726180"/>
            <a:ext cx="6339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9013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Producer / consumer independent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212080" y="3904488"/>
            <a:ext cx="6339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One system writes a bundle another consumes — no shared platform, SDK, or account.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212080" y="4628474"/>
            <a:ext cx="6339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9013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Format, not platform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212080" y="4800600"/>
            <a:ext cx="6339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Vendor-neutral; </a:t>
            </a:r>
            <a:r>
              <a:rPr lang="en-US" sz="12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version-controlled next to code</a:t>
            </a:r>
            <a:r>
              <a:rPr lang="en-US" sz="12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; one file serves humans and agents.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562356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B6B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Source: Google Cloud Data Cloud · OKF v0.1 · github.com/GoogleCloudPlatform/knowledge-catalog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40080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100" dirty="0">
                <a:solidFill>
                  <a:srgbClr val="6B6B6B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AI-SDLC BOOTSTRAP KIT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0362895" y="647395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6B6B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14 / 19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9013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THE OPPORTUNITY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3100" b="1" dirty="0">
                <a:solidFill>
                  <a:srgbClr val="E9013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Our knowledge layer already speaks this language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57800" cy="658368"/>
          </a:xfrm>
          <a:prstGeom prst="rect">
            <a:avLst/>
          </a:prstGeom>
          <a:solidFill>
            <a:srgbClr val="E90130"/>
          </a:solidFill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5" name="Shape 3"/>
          <p:cNvSpPr/>
          <p:nvPr/>
        </p:nvSpPr>
        <p:spPr>
          <a:xfrm>
            <a:off x="5897880" y="1737360"/>
            <a:ext cx="5212080" cy="658368"/>
          </a:xfrm>
          <a:prstGeom prst="rect">
            <a:avLst/>
          </a:prstGeom>
          <a:solidFill>
            <a:srgbClr val="000000"/>
          </a:solidFill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6" name="Text 4"/>
          <p:cNvSpPr/>
          <p:nvPr/>
        </p:nvSpPr>
        <p:spPr>
          <a:xfrm>
            <a:off x="822960" y="1737360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Kit today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080760" y="1737360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OKF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395728"/>
            <a:ext cx="5257800" cy="658368"/>
          </a:xfrm>
          <a:prstGeom prst="rect">
            <a:avLst/>
          </a:prstGeom>
          <a:solidFill>
            <a:srgbClr val="F5F5F5"/>
          </a:solidFill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9" name="Shape 7"/>
          <p:cNvSpPr/>
          <p:nvPr/>
        </p:nvSpPr>
        <p:spPr>
          <a:xfrm>
            <a:off x="5897880" y="2395728"/>
            <a:ext cx="5212080" cy="658368"/>
          </a:xfrm>
          <a:prstGeom prst="rect">
            <a:avLst/>
          </a:prstGeom>
          <a:solidFill>
            <a:srgbClr val="F5F5F5"/>
          </a:solidFill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10" name="Text 8"/>
          <p:cNvSpPr/>
          <p:nvPr/>
        </p:nvSpPr>
        <p:spPr>
          <a:xfrm>
            <a:off x="822960" y="2395728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docs/knowledge/ markdown sources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080760" y="2395728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Bundle of markdown concept docs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054096"/>
            <a:ext cx="52578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13" name="Shape 11"/>
          <p:cNvSpPr/>
          <p:nvPr/>
        </p:nvSpPr>
        <p:spPr>
          <a:xfrm>
            <a:off x="5897880" y="3054096"/>
            <a:ext cx="52120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14" name="Text 12"/>
          <p:cNvSpPr/>
          <p:nvPr/>
        </p:nvSpPr>
        <p:spPr>
          <a:xfrm>
            <a:off x="822960" y="3054096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Frontmatter: title, status, owner, classification, ai-trust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080760" y="3054096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Reserved YAML: type, title, description, tags, timestamp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712464"/>
            <a:ext cx="5257800" cy="658368"/>
          </a:xfrm>
          <a:prstGeom prst="rect">
            <a:avLst/>
          </a:prstGeom>
          <a:solidFill>
            <a:srgbClr val="F5F5F5"/>
          </a:solidFill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17" name="Shape 15"/>
          <p:cNvSpPr/>
          <p:nvPr/>
        </p:nvSpPr>
        <p:spPr>
          <a:xfrm>
            <a:off x="5897880" y="3712464"/>
            <a:ext cx="5212080" cy="658368"/>
          </a:xfrm>
          <a:prstGeom prst="rect">
            <a:avLst/>
          </a:prstGeom>
          <a:solidFill>
            <a:srgbClr val="F5F5F5"/>
          </a:solidFill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18" name="Text 16"/>
          <p:cNvSpPr/>
          <p:nvPr/>
        </p:nvSpPr>
        <p:spPr>
          <a:xfrm>
            <a:off x="822960" y="3712464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Trust tiers (authoritative → restricted)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080760" y="3712464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i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extends OKF with a reliability dimension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370832"/>
            <a:ext cx="52578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21" name="Shape 19"/>
          <p:cNvSpPr/>
          <p:nvPr/>
        </p:nvSpPr>
        <p:spPr>
          <a:xfrm>
            <a:off x="5897880" y="4370832"/>
            <a:ext cx="52120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22" name="Text 20"/>
          <p:cNvSpPr/>
          <p:nvPr/>
        </p:nvSpPr>
        <p:spPr>
          <a:xfrm>
            <a:off x="822960" y="4370832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ingest.py → graph / RAG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080760" y="4370832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Producer/consumer independence — any consumer reads the bundle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1" y="5166360"/>
            <a:ext cx="10469880" cy="868680"/>
          </a:xfrm>
          <a:prstGeom prst="rect">
            <a:avLst/>
          </a:prstGeom>
          <a:solidFill>
            <a:srgbClr val="E90130"/>
          </a:solidFill>
          <a:ln/>
        </p:spPr>
        <p:txBody>
          <a:bodyPr/>
          <a:lstStyle/>
          <a:p>
            <a:endParaRPr lang="ro-RO"/>
          </a:p>
        </p:txBody>
      </p:sp>
      <p:sp>
        <p:nvSpPr>
          <p:cNvPr id="25" name="Text 23"/>
          <p:cNvSpPr/>
          <p:nvPr/>
        </p:nvSpPr>
        <p:spPr>
          <a:xfrm>
            <a:off x="914400" y="5166360"/>
            <a:ext cx="1001267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The move:</a:t>
            </a:r>
            <a:br>
              <a:rPr lang="en-US" sz="1300" b="1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</a:br>
            <a:r>
              <a:rPr lang="en-US" sz="1300" b="1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</a:t>
            </a:r>
            <a:r>
              <a:rPr lang="en-US" sz="13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lign our frontmatter + folder layout to OKF → project knowledge becomes portable, interoperable, and standardised instead of bespoke.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100" dirty="0">
                <a:solidFill>
                  <a:srgbClr val="6B6B6B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AI-SDLC BOOTSTRAP KIT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0362895" y="647395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6B6B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15 / 19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901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FFFFFF">
                    <a:alpha val="22000"/>
                  </a:srgbClr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640080" y="2468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 TEAM DIAGNOSTIC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283464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we work with AI today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40080" y="411480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E3E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5-minute, anonymous pulse — tested live in a client workshop — that scores a team on the AI maturity ladder.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100" dirty="0">
                <a:solidFill>
                  <a:srgbClr val="FBBFC8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AI-SDLC BOOTSTRAP KIT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362895" y="647395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BBFC8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16 / 19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9013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THE DIAGNOSTIC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3100" b="1" dirty="0">
                <a:solidFill>
                  <a:srgbClr val="E9013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13 questions, 4 dimensions, one maturity level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487168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ro-RO"/>
          </a:p>
        </p:txBody>
      </p:sp>
      <p:sp>
        <p:nvSpPr>
          <p:cNvPr id="5" name="Shape 3"/>
          <p:cNvSpPr/>
          <p:nvPr/>
        </p:nvSpPr>
        <p:spPr>
          <a:xfrm>
            <a:off x="914400" y="2167128"/>
            <a:ext cx="457200" cy="54864"/>
          </a:xfrm>
          <a:prstGeom prst="rect">
            <a:avLst/>
          </a:prstGeom>
          <a:solidFill>
            <a:srgbClr val="E90130"/>
          </a:solidFill>
          <a:ln/>
        </p:spPr>
        <p:txBody>
          <a:bodyPr/>
          <a:lstStyle/>
          <a:p>
            <a:endParaRPr lang="ro-RO"/>
          </a:p>
        </p:txBody>
      </p:sp>
      <p:sp>
        <p:nvSpPr>
          <p:cNvPr id="6" name="Text 4"/>
          <p:cNvSpPr/>
          <p:nvPr/>
        </p:nvSpPr>
        <p:spPr>
          <a:xfrm>
            <a:off x="896112" y="2313432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Usage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96112" y="2788920"/>
            <a:ext cx="20299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How much, how broadly AI is used.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48202" y="1874520"/>
            <a:ext cx="2487168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ro-RO"/>
          </a:p>
        </p:txBody>
      </p:sp>
      <p:sp>
        <p:nvSpPr>
          <p:cNvPr id="9" name="Shape 7"/>
          <p:cNvSpPr/>
          <p:nvPr/>
        </p:nvSpPr>
        <p:spPr>
          <a:xfrm>
            <a:off x="3722522" y="2167128"/>
            <a:ext cx="457200" cy="54864"/>
          </a:xfrm>
          <a:prstGeom prst="rect">
            <a:avLst/>
          </a:prstGeom>
          <a:solidFill>
            <a:srgbClr val="E90130"/>
          </a:solidFill>
          <a:ln/>
        </p:spPr>
        <p:txBody>
          <a:bodyPr/>
          <a:lstStyle/>
          <a:p>
            <a:endParaRPr lang="ro-RO"/>
          </a:p>
        </p:txBody>
      </p:sp>
      <p:sp>
        <p:nvSpPr>
          <p:cNvPr id="10" name="Text 8"/>
          <p:cNvSpPr/>
          <p:nvPr/>
        </p:nvSpPr>
        <p:spPr>
          <a:xfrm>
            <a:off x="3704234" y="2313432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Skills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704234" y="2788920"/>
            <a:ext cx="20299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Prompting, verification, resilience.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56325" y="1874520"/>
            <a:ext cx="2487168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ro-RO"/>
          </a:p>
        </p:txBody>
      </p:sp>
      <p:sp>
        <p:nvSpPr>
          <p:cNvPr id="13" name="Shape 11"/>
          <p:cNvSpPr/>
          <p:nvPr/>
        </p:nvSpPr>
        <p:spPr>
          <a:xfrm>
            <a:off x="6530645" y="2167128"/>
            <a:ext cx="457200" cy="54864"/>
          </a:xfrm>
          <a:prstGeom prst="rect">
            <a:avLst/>
          </a:prstGeom>
          <a:solidFill>
            <a:srgbClr val="E90130"/>
          </a:solidFill>
          <a:ln/>
        </p:spPr>
        <p:txBody>
          <a:bodyPr/>
          <a:lstStyle/>
          <a:p>
            <a:endParaRPr lang="ro-RO"/>
          </a:p>
        </p:txBody>
      </p:sp>
      <p:sp>
        <p:nvSpPr>
          <p:cNvPr id="14" name="Text 12"/>
          <p:cNvSpPr/>
          <p:nvPr/>
        </p:nvSpPr>
        <p:spPr>
          <a:xfrm>
            <a:off x="6512357" y="2313432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Team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512357" y="2788920"/>
            <a:ext cx="20299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Consistency, handover, sharing.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064447" y="1874520"/>
            <a:ext cx="2487168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ro-RO"/>
          </a:p>
        </p:txBody>
      </p:sp>
      <p:sp>
        <p:nvSpPr>
          <p:cNvPr id="17" name="Shape 15"/>
          <p:cNvSpPr/>
          <p:nvPr/>
        </p:nvSpPr>
        <p:spPr>
          <a:xfrm>
            <a:off x="9338767" y="2167128"/>
            <a:ext cx="457200" cy="54864"/>
          </a:xfrm>
          <a:prstGeom prst="rect">
            <a:avLst/>
          </a:prstGeom>
          <a:solidFill>
            <a:srgbClr val="E90130"/>
          </a:solidFill>
          <a:ln/>
        </p:spPr>
        <p:txBody>
          <a:bodyPr/>
          <a:lstStyle/>
          <a:p>
            <a:endParaRPr lang="ro-RO"/>
          </a:p>
        </p:txBody>
      </p:sp>
      <p:sp>
        <p:nvSpPr>
          <p:cNvPr id="18" name="Text 16"/>
          <p:cNvSpPr/>
          <p:nvPr/>
        </p:nvSpPr>
        <p:spPr>
          <a:xfrm>
            <a:off x="9320479" y="2313432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Governance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320479" y="2788920"/>
            <a:ext cx="20299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rules, review, measurement, agent access.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3886200"/>
            <a:ext cx="73152" cy="658368"/>
          </a:xfrm>
          <a:prstGeom prst="rect">
            <a:avLst/>
          </a:prstGeom>
          <a:solidFill>
            <a:srgbClr val="E90130"/>
          </a:solidFill>
          <a:ln/>
        </p:spPr>
        <p:txBody>
          <a:bodyPr/>
          <a:lstStyle/>
          <a:p>
            <a:endParaRPr lang="ro-RO"/>
          </a:p>
        </p:txBody>
      </p:sp>
      <p:sp>
        <p:nvSpPr>
          <p:cNvPr id="21" name="Text 19"/>
          <p:cNvSpPr/>
          <p:nvPr/>
        </p:nvSpPr>
        <p:spPr>
          <a:xfrm>
            <a:off x="896112" y="3840480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Anonymous &amp; fast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96112" y="4187952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One role question + 13 MCQs; results hidden during voting; join by QR or link.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" y="4782312"/>
            <a:ext cx="73152" cy="658368"/>
          </a:xfrm>
          <a:prstGeom prst="rect">
            <a:avLst/>
          </a:prstGeom>
          <a:solidFill>
            <a:srgbClr val="E90130"/>
          </a:solidFill>
          <a:ln/>
        </p:spPr>
        <p:txBody>
          <a:bodyPr/>
          <a:lstStyle/>
          <a:p>
            <a:endParaRPr lang="ro-RO"/>
          </a:p>
        </p:txBody>
      </p:sp>
      <p:sp>
        <p:nvSpPr>
          <p:cNvPr id="24" name="Text 22"/>
          <p:cNvSpPr/>
          <p:nvPr/>
        </p:nvSpPr>
        <p:spPr>
          <a:xfrm>
            <a:off x="896112" y="4736592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Built to measure, not flatter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96112" y="5084064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Dimensions interleave; two questions are reverse-scored to break the 'last option = best' pattern.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40080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100" dirty="0">
                <a:solidFill>
                  <a:srgbClr val="6B6B6B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AI-SDLC BOOTSTRAP KIT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0362895" y="647395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6B6B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17 / 19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9013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THE REVEAL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3100" b="1" dirty="0">
                <a:solidFill>
                  <a:srgbClr val="E9013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Where a team lands — live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58368" cy="548640"/>
          </a:xfrm>
          <a:prstGeom prst="rect">
            <a:avLst/>
          </a:prstGeom>
          <a:solidFill>
            <a:srgbClr val="E90130"/>
          </a:solidFill>
          <a:ln/>
        </p:spPr>
        <p:txBody>
          <a:bodyPr/>
          <a:lstStyle/>
          <a:p>
            <a:endParaRPr lang="ro-RO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658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5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298448" y="1783080"/>
            <a:ext cx="69494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7" name="Text 5"/>
          <p:cNvSpPr/>
          <p:nvPr/>
        </p:nvSpPr>
        <p:spPr>
          <a:xfrm>
            <a:off x="1463040" y="1819656"/>
            <a:ext cx="6675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000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AI-native / Optimizing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463040" y="2093976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Agentic workflows; usage measured against outcomes.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2441448"/>
            <a:ext cx="658368" cy="548640"/>
          </a:xfrm>
          <a:prstGeom prst="rect">
            <a:avLst/>
          </a:prstGeom>
          <a:solidFill>
            <a:srgbClr val="C8072A"/>
          </a:solidFill>
          <a:ln/>
        </p:spPr>
        <p:txBody>
          <a:bodyPr/>
          <a:lstStyle/>
          <a:p>
            <a:endParaRPr lang="ro-RO"/>
          </a:p>
        </p:txBody>
      </p:sp>
      <p:sp>
        <p:nvSpPr>
          <p:cNvPr id="10" name="Text 8"/>
          <p:cNvSpPr/>
          <p:nvPr/>
        </p:nvSpPr>
        <p:spPr>
          <a:xfrm>
            <a:off x="640080" y="2441448"/>
            <a:ext cx="658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4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1298448" y="2441448"/>
            <a:ext cx="6446520" cy="548640"/>
          </a:xfrm>
          <a:prstGeom prst="rect">
            <a:avLst/>
          </a:prstGeom>
          <a:solidFill>
            <a:srgbClr val="F5F5F5"/>
          </a:solidFill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12" name="Text 10"/>
          <p:cNvSpPr/>
          <p:nvPr/>
        </p:nvSpPr>
        <p:spPr>
          <a:xfrm>
            <a:off x="1463040" y="2478024"/>
            <a:ext cx="6172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000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Process-embedded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463040" y="2752344"/>
            <a:ext cx="6172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Systems usable by agents; skills packaged as shared artifacts.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3099816"/>
            <a:ext cx="658368" cy="548640"/>
          </a:xfrm>
          <a:prstGeom prst="rect">
            <a:avLst/>
          </a:prstGeom>
          <a:solidFill>
            <a:srgbClr val="9B1430"/>
          </a:solidFill>
          <a:ln/>
        </p:spPr>
        <p:txBody>
          <a:bodyPr/>
          <a:lstStyle/>
          <a:p>
            <a:endParaRPr lang="ro-RO"/>
          </a:p>
        </p:txBody>
      </p:sp>
      <p:sp>
        <p:nvSpPr>
          <p:cNvPr id="15" name="Text 13"/>
          <p:cNvSpPr/>
          <p:nvPr/>
        </p:nvSpPr>
        <p:spPr>
          <a:xfrm>
            <a:off x="640080" y="3099816"/>
            <a:ext cx="658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1298448" y="3099816"/>
            <a:ext cx="59436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17" name="Text 15"/>
          <p:cNvSpPr/>
          <p:nvPr/>
        </p:nvSpPr>
        <p:spPr>
          <a:xfrm>
            <a:off x="1463040" y="3136392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000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Team-adopted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463040" y="3410712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Shared tools &amp; patterns — but value still breaks at handovers.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3758184"/>
            <a:ext cx="658368" cy="548640"/>
          </a:xfrm>
          <a:prstGeom prst="rect">
            <a:avLst/>
          </a:prstGeom>
          <a:solidFill>
            <a:srgbClr val="6B6B6B"/>
          </a:solidFill>
          <a:ln/>
        </p:spPr>
        <p:txBody>
          <a:bodyPr/>
          <a:lstStyle/>
          <a:p>
            <a:endParaRPr lang="ro-RO"/>
          </a:p>
        </p:txBody>
      </p:sp>
      <p:sp>
        <p:nvSpPr>
          <p:cNvPr id="20" name="Text 18"/>
          <p:cNvSpPr/>
          <p:nvPr/>
        </p:nvSpPr>
        <p:spPr>
          <a:xfrm>
            <a:off x="640080" y="3758184"/>
            <a:ext cx="658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1298448" y="3758184"/>
            <a:ext cx="5440680" cy="548640"/>
          </a:xfrm>
          <a:prstGeom prst="rect">
            <a:avLst/>
          </a:prstGeom>
          <a:solidFill>
            <a:srgbClr val="F5F5F5"/>
          </a:solidFill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22" name="Text 20"/>
          <p:cNvSpPr/>
          <p:nvPr/>
        </p:nvSpPr>
        <p:spPr>
          <a:xfrm>
            <a:off x="1463040" y="3794760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000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Individual / Ad-hoc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463040" y="4069080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Personal gains that leave when the person leaves.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0080" y="4416552"/>
            <a:ext cx="658368" cy="548640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ro-RO"/>
          </a:p>
        </p:txBody>
      </p:sp>
      <p:sp>
        <p:nvSpPr>
          <p:cNvPr id="25" name="Text 23"/>
          <p:cNvSpPr/>
          <p:nvPr/>
        </p:nvSpPr>
        <p:spPr>
          <a:xfrm>
            <a:off x="640080" y="4416552"/>
            <a:ext cx="658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000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1298448" y="4416552"/>
            <a:ext cx="49377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27" name="Text 25"/>
          <p:cNvSpPr/>
          <p:nvPr/>
        </p:nvSpPr>
        <p:spPr>
          <a:xfrm>
            <a:off x="1463040" y="4453128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000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Unaware / Skeptical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463040" y="472744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or accidental use.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229600" y="1783080"/>
            <a:ext cx="3322015" cy="3291840"/>
          </a:xfrm>
          <a:prstGeom prst="roundRect">
            <a:avLst>
              <a:gd name="adj" fmla="val 2778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ro-RO"/>
          </a:p>
        </p:txBody>
      </p:sp>
      <p:sp>
        <p:nvSpPr>
          <p:cNvPr id="30" name="Text 28"/>
          <p:cNvSpPr/>
          <p:nvPr/>
        </p:nvSpPr>
        <p:spPr>
          <a:xfrm>
            <a:off x="8503920" y="2011680"/>
            <a:ext cx="2773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9013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LIVE OUTPUT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503920" y="2377440"/>
            <a:ext cx="27733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4-axis radar (one per dimension) + overall level, broken down by role.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503920" y="3246120"/>
            <a:ext cx="27733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BDBDB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Role rows hide below n = 4 to protect anonymity.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8503920" y="3977640"/>
            <a:ext cx="2773375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34" name="Text 32"/>
          <p:cNvSpPr/>
          <p:nvPr/>
        </p:nvSpPr>
        <p:spPr>
          <a:xfrm>
            <a:off x="8503920" y="4114800"/>
            <a:ext cx="2773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A8C9A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2 → 3 gut-check: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8503920" y="4407408"/>
            <a:ext cx="27733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i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does the gain survive the person leaving, and survive a handover?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40080" y="52578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6B6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Most teams score individual skill high but team &amp; governance low — exactly the gap the kit closes.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640080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100" dirty="0">
                <a:solidFill>
                  <a:srgbClr val="6B6B6B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AI-SDLC BOOTSTRAP KIT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0362895" y="647395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6B6B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18 / 19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901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ADOPTION &amp; THE ASK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Bootstrap a governed AI-SDLC</a:t>
            </a:r>
            <a:endParaRPr lang="en-US" sz="3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 one command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10911535" cy="1344168"/>
          </a:xfrm>
          <a:prstGeom prst="roundRect">
            <a:avLst>
              <a:gd name="adj" fmla="val 5714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ro-RO"/>
          </a:p>
        </p:txBody>
      </p:sp>
      <p:sp>
        <p:nvSpPr>
          <p:cNvPr id="5" name="Shape 3"/>
          <p:cNvSpPr/>
          <p:nvPr/>
        </p:nvSpPr>
        <p:spPr>
          <a:xfrm>
            <a:off x="828488" y="2420654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ro-RO"/>
          </a:p>
        </p:txBody>
      </p:sp>
      <p:sp>
        <p:nvSpPr>
          <p:cNvPr id="6" name="Shape 4"/>
          <p:cNvSpPr/>
          <p:nvPr/>
        </p:nvSpPr>
        <p:spPr>
          <a:xfrm>
            <a:off x="1029656" y="2420654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ro-RO"/>
          </a:p>
        </p:txBody>
      </p:sp>
      <p:sp>
        <p:nvSpPr>
          <p:cNvPr id="7" name="Shape 5"/>
          <p:cNvSpPr/>
          <p:nvPr/>
        </p:nvSpPr>
        <p:spPr>
          <a:xfrm>
            <a:off x="1230824" y="2420654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ro-RO"/>
          </a:p>
        </p:txBody>
      </p:sp>
      <p:sp>
        <p:nvSpPr>
          <p:cNvPr id="8" name="Text 6"/>
          <p:cNvSpPr/>
          <p:nvPr/>
        </p:nvSpPr>
        <p:spPr>
          <a:xfrm>
            <a:off x="960119" y="2926080"/>
            <a:ext cx="10271455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A8C9A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$ template/scripts/bootstrap.sh --name "Acme Wallet" \
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    --slug acme-wallet --dir ../acme-wallet --ticket ACME --host github
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DBDBD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✓ copied template  ✓ substituted placeholders  ✓ git init + commit  ✓ installed hooks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9776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pilot:  pick a repo  ›  bootstrap  ›  add knowledge sources  ›  run one real story through a full lap  ›  read the dashboard at the retro.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4526280"/>
            <a:ext cx="1371600" cy="457200"/>
          </a:xfrm>
          <a:prstGeom prst="roundRect">
            <a:avLst>
              <a:gd name="adj" fmla="val 50000"/>
            </a:avLst>
          </a:prstGeom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11" name="Text 9"/>
          <p:cNvSpPr/>
          <p:nvPr/>
        </p:nvSpPr>
        <p:spPr>
          <a:xfrm>
            <a:off x="640080" y="45262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Grounded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40280" y="4526280"/>
            <a:ext cx="1828800" cy="457200"/>
          </a:xfrm>
          <a:prstGeom prst="roundRect">
            <a:avLst>
              <a:gd name="adj" fmla="val 50000"/>
            </a:avLst>
          </a:prstGeom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13" name="Text 11"/>
          <p:cNvSpPr/>
          <p:nvPr/>
        </p:nvSpPr>
        <p:spPr>
          <a:xfrm>
            <a:off x="2240280" y="4526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Attributable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97680" y="4526280"/>
            <a:ext cx="1028700" cy="457200"/>
          </a:xfrm>
          <a:prstGeom prst="roundRect">
            <a:avLst>
              <a:gd name="adj" fmla="val 50000"/>
            </a:avLst>
          </a:prstGeom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15" name="Text 13"/>
          <p:cNvSpPr/>
          <p:nvPr/>
        </p:nvSpPr>
        <p:spPr>
          <a:xfrm>
            <a:off x="4297680" y="4526280"/>
            <a:ext cx="1028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Gated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554980" y="4526280"/>
            <a:ext cx="1714500" cy="457200"/>
          </a:xfrm>
          <a:prstGeom prst="roundRect">
            <a:avLst>
              <a:gd name="adj" fmla="val 50000"/>
            </a:avLst>
          </a:prstGeom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ro-RO"/>
          </a:p>
        </p:txBody>
      </p:sp>
      <p:sp>
        <p:nvSpPr>
          <p:cNvPr id="17" name="Text 15"/>
          <p:cNvSpPr/>
          <p:nvPr/>
        </p:nvSpPr>
        <p:spPr>
          <a:xfrm>
            <a:off x="5554980" y="4526280"/>
            <a:ext cx="171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Human-owned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5257800"/>
            <a:ext cx="10911535" cy="8686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o-RO"/>
          </a:p>
        </p:txBody>
      </p:sp>
      <p:sp>
        <p:nvSpPr>
          <p:cNvPr id="19" name="Text 17"/>
          <p:cNvSpPr/>
          <p:nvPr/>
        </p:nvSpPr>
        <p:spPr>
          <a:xfrm>
            <a:off x="914400" y="5257800"/>
            <a:ext cx="103628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E9013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The ask:  </a:t>
            </a:r>
            <a:r>
              <a:rPr lang="en-US" sz="135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who pilots it, on which project, by when?</a:t>
            </a:r>
            <a:r>
              <a:rPr lang="en-US" sz="1350" dirty="0">
                <a:solidFill>
                  <a:srgbClr val="6B6B6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 And: do we align our knowledge layer to OKF as a shared standard?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100" dirty="0">
                <a:solidFill>
                  <a:srgbClr val="FBBFC8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AI-SDLC BOOTSTRAP KIT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362895" y="647395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BBFC8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19 / 19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2026</Words>
  <Application>Microsoft Macintosh PowerPoint</Application>
  <PresentationFormat>Widescreen</PresentationFormat>
  <Paragraphs>323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Lexend Deca</vt:lpstr>
      <vt:lpstr>Roboto</vt:lpstr>
      <vt:lpstr>Roboto Mono</vt:lpstr>
      <vt:lpstr>Roboto Mono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Publicis Sapient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AI-SDLC Bootstrap Kit — Delivery LT Circle</dc:title>
  <dc:subject>PptxGenJS Presentation</dc:subject>
  <dc:creator>AI-SDLC Bootstrap Kit</dc:creator>
  <cp:lastModifiedBy>Geo Dinca</cp:lastModifiedBy>
  <cp:revision>5</cp:revision>
  <dcterms:created xsi:type="dcterms:W3CDTF">2026-07-29T11:25:24Z</dcterms:created>
  <dcterms:modified xsi:type="dcterms:W3CDTF">2026-07-29T13:39:40Z</dcterms:modified>
</cp:coreProperties>
</file>