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B2C5A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840480"/>
            <a:ext cx="3840480" cy="3840480"/>
          </a:xfrm>
          <a:prstGeom prst="ellipse">
            <a:avLst/>
          </a:prstGeom>
          <a:solidFill>
            <a:srgbClr val="16224A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1051560" cy="1051560"/>
          </a:xfrm>
          <a:prstGeom prst="roundRect">
            <a:avLst>
              <a:gd name="adj" fmla="val 8696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" y="1602943"/>
            <a:ext cx="588874" cy="58887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AI-SDLC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2296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Bootstrap Kit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68680" y="47091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ready-made operating model for an AI-augmented Software Development Life Cycle 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 a governed, grounded, attributable collaborator across the whole lifecycle.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5715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9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AUTOMATIZARE operating model — bootstrapped into any repo.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in every dev workflow — but ungoverned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25780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65960"/>
            <a:ext cx="82296" cy="17830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6" name="Shape 4"/>
          <p:cNvSpPr/>
          <p:nvPr/>
        </p:nvSpPr>
        <p:spPr>
          <a:xfrm>
            <a:off x="1069848" y="2276856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6759" y="2433767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2402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Ad-hoc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2011680" y="271576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engineer prompts differently. No shared baseline, no repeatable quality.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1965960"/>
            <a:ext cx="525780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1965960"/>
            <a:ext cx="82296" cy="17830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2" name="Shape 9"/>
          <p:cNvSpPr/>
          <p:nvPr/>
        </p:nvSpPr>
        <p:spPr>
          <a:xfrm>
            <a:off x="6647688" y="2276856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599" y="2433767"/>
            <a:ext cx="399410" cy="3994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89520" y="22402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Ungrounded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7589520" y="271576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answer from memory and guess APIs instead of the project's own truth.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777240" y="4069080"/>
            <a:ext cx="525780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069080"/>
            <a:ext cx="82296" cy="17830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8" name="Shape 14"/>
          <p:cNvSpPr/>
          <p:nvPr/>
        </p:nvSpPr>
        <p:spPr>
          <a:xfrm>
            <a:off x="1069848" y="4379976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759" y="4536887"/>
            <a:ext cx="399410" cy="3994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11680" y="43434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Unattributable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2011680" y="481888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edits load-bearing artefacts with no named owner and no reviewable trail.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355080" y="4069080"/>
            <a:ext cx="525780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55080" y="4069080"/>
            <a:ext cx="82296" cy="17830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4" name="Shape 19"/>
          <p:cNvSpPr/>
          <p:nvPr/>
        </p:nvSpPr>
        <p:spPr>
          <a:xfrm>
            <a:off x="6647688" y="4379976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599" y="4536887"/>
            <a:ext cx="399410" cy="39941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89520" y="43434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Reinvented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7589520" y="481888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project rebuilds the same governance from scratch — and it drifts.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operating model, bootstrapped into any repo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began on a whiteboard — AUTOMATIZARE. The kit turns that sketch into a runnable scaffold: a knowledge layer agents ground on, a Roles × Skills × MCP matrix, governance rules enforced as CI, onboarding, setup, and a human-owned improvement loop.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324612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63040" y="352044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4033" y="3691433"/>
            <a:ext cx="435254" cy="4352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44165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748115" y="374904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2990774" y="324612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5134" y="352044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127" y="3691433"/>
            <a:ext cx="435254" cy="43525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82214" y="44165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870209" y="374904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1"/>
          <p:cNvSpPr/>
          <p:nvPr/>
        </p:nvSpPr>
        <p:spPr>
          <a:xfrm>
            <a:off x="5112868" y="324612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707228" y="352044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220" y="3691433"/>
            <a:ext cx="435254" cy="43525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204308" y="44165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· RAG · Vector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992303" y="374904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5"/>
          <p:cNvSpPr/>
          <p:nvPr/>
        </p:nvSpPr>
        <p:spPr>
          <a:xfrm>
            <a:off x="7234961" y="324612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29321" y="352044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314" y="3691433"/>
            <a:ext cx="435254" cy="43525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26401" y="44165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× Skills × MCP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9114396" y="374904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19"/>
          <p:cNvSpPr/>
          <p:nvPr/>
        </p:nvSpPr>
        <p:spPr>
          <a:xfrm>
            <a:off x="9357055" y="324612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951415" y="352044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2408" y="3691433"/>
            <a:ext cx="435254" cy="43525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448495" y="44165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delivery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868680" y="5349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9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stays in the loop — promotion, sign-off and curation are never delegated.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pillars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49300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1031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4090" y="22439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01368" y="2066544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Setup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801368" y="24688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bootstrap of a governed, AI-ready repo.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17136" y="1828800"/>
            <a:ext cx="349300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73168" y="21031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986" y="22439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41264" y="2066544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Onboarding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541264" y="24688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first-run installs tooling and creates USER.md.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257032" y="1828800"/>
            <a:ext cx="349300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13064" y="21031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882" y="224393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81160" y="2066544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Governance &amp; rules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9281160" y="24688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canonical brief, trust tiers, scoped-write MCP.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77240" y="3355848"/>
            <a:ext cx="349300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33272" y="363016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4090" y="3770986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01368" y="359359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CI/CD for AI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801368" y="3995928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expressed as scripts, enforced as merge gates.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17136" y="3355848"/>
            <a:ext cx="349300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73168" y="363016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3986" y="3770986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541264" y="359359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· Knowledge layer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5541264" y="3995928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→ KG / RAG / vector; agents ground &amp; cite.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257032" y="3355848"/>
            <a:ext cx="349300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13064" y="363016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3882" y="3770986"/>
            <a:ext cx="358445" cy="35844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281160" y="359359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· Roles × Skills × MCP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9281160" y="3995928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seat = invokable skill + scoped connectors.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77240" y="4882896"/>
            <a:ext cx="349300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33272" y="5157216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7C9CF0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4090" y="5298034"/>
            <a:ext cx="358445" cy="358445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801368" y="512064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· Human methodology</a:t>
            </a:r>
            <a:endParaRPr lang="en-US" sz="1450" dirty="0"/>
          </a:p>
        </p:txBody>
      </p:sp>
      <p:sp>
        <p:nvSpPr>
          <p:cNvPr id="38" name="Text 29"/>
          <p:cNvSpPr/>
          <p:nvPr/>
        </p:nvSpPr>
        <p:spPr>
          <a:xfrm>
            <a:off x="1801368" y="5522976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retro turn usage into improvements.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8257032" y="4882896"/>
            <a:ext cx="3493008" cy="132588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40" name="Text 31"/>
          <p:cNvSpPr/>
          <p:nvPr/>
        </p:nvSpPr>
        <p:spPr>
          <a:xfrm>
            <a:off x="8531352" y="5138928"/>
            <a:ext cx="2944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 ships at least one runnable or enforceable artefact — not just prose.</a:t>
            </a:r>
            <a:endParaRPr lang="en-US" sz="1300" dirty="0"/>
          </a:p>
        </p:txBody>
      </p:sp>
      <p:sp>
        <p:nvSpPr>
          <p:cNvPr id="41" name="Text 32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42" name="Text 33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Roles × Skills × MCP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named seats. Each carries an invokable role-contract skill and a scoped set of MCP connectors — who owns what, which skills they invoke, which tools they may act 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514600"/>
            <a:ext cx="2121408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514600"/>
            <a:ext cx="21214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7" name="Shape 5"/>
          <p:cNvSpPr/>
          <p:nvPr/>
        </p:nvSpPr>
        <p:spPr>
          <a:xfrm>
            <a:off x="1426464" y="28346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15" y="3015691"/>
            <a:ext cx="460858" cy="46085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374904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14400" y="4142232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· ADRs · standards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906192" y="2514600"/>
            <a:ext cx="2121408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06192" y="2514600"/>
            <a:ext cx="21214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3" name="Shape 10"/>
          <p:cNvSpPr/>
          <p:nvPr/>
        </p:nvSpPr>
        <p:spPr>
          <a:xfrm>
            <a:off x="3555416" y="28346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6467" y="301569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06192" y="374904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3043352" y="4142232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· CI · capacity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035144" y="2514600"/>
            <a:ext cx="2121408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35144" y="2514600"/>
            <a:ext cx="21214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9" name="Shape 15"/>
          <p:cNvSpPr/>
          <p:nvPr/>
        </p:nvSpPr>
        <p:spPr>
          <a:xfrm>
            <a:off x="5684368" y="28346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419" y="3015691"/>
            <a:ext cx="460858" cy="46085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35144" y="374904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5172304" y="4142232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· backlog · roadmap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164095" y="2514600"/>
            <a:ext cx="2121408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164095" y="2514600"/>
            <a:ext cx="21214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5" name="Shape 20"/>
          <p:cNvSpPr/>
          <p:nvPr/>
        </p:nvSpPr>
        <p:spPr>
          <a:xfrm>
            <a:off x="7813319" y="28346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4371" y="3015691"/>
            <a:ext cx="460858" cy="46085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64095" y="374904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7301255" y="4142232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· tests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9293047" y="2514600"/>
            <a:ext cx="2121408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293047" y="2514600"/>
            <a:ext cx="21214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1" name="Shape 25"/>
          <p:cNvSpPr/>
          <p:nvPr/>
        </p:nvSpPr>
        <p:spPr>
          <a:xfrm>
            <a:off x="9942271" y="28346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3322" y="3015691"/>
            <a:ext cx="460858" cy="46085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293047" y="374904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</a:t>
            </a:r>
            <a:endParaRPr lang="en-US" sz="1700" dirty="0"/>
          </a:p>
        </p:txBody>
      </p:sp>
      <p:sp>
        <p:nvSpPr>
          <p:cNvPr id="34" name="Text 27"/>
          <p:cNvSpPr/>
          <p:nvPr/>
        </p:nvSpPr>
        <p:spPr>
          <a:xfrm>
            <a:off x="9430207" y="4142232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gates · traceability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777240" y="4892040"/>
            <a:ext cx="5257800" cy="123444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6" name="Shape 29"/>
          <p:cNvSpPr/>
          <p:nvPr/>
        </p:nvSpPr>
        <p:spPr>
          <a:xfrm>
            <a:off x="1005840" y="51846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6658" y="5325466"/>
            <a:ext cx="358445" cy="358445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828800" y="51480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Invokable Skills</a:t>
            </a:r>
            <a:endParaRPr lang="en-US" sz="1500" dirty="0"/>
          </a:p>
        </p:txBody>
      </p:sp>
      <p:sp>
        <p:nvSpPr>
          <p:cNvPr id="39" name="Text 31"/>
          <p:cNvSpPr/>
          <p:nvPr/>
        </p:nvSpPr>
        <p:spPr>
          <a:xfrm>
            <a:off x="1828800" y="55321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.claude/skills/playbook-&lt;seat&gt; — auto-discovered, conform to agentskills.io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6263640" y="4892040"/>
            <a:ext cx="5120640" cy="1234440"/>
          </a:xfrm>
          <a:prstGeom prst="rect">
            <a:avLst/>
          </a:prstGeom>
          <a:solidFill>
            <a:srgbClr val="1B2C5A"/>
          </a:solidFill>
          <a:ln/>
        </p:spPr>
      </p:sp>
      <p:sp>
        <p:nvSpPr>
          <p:cNvPr id="41" name="Shape 33"/>
          <p:cNvSpPr/>
          <p:nvPr/>
        </p:nvSpPr>
        <p:spPr>
          <a:xfrm>
            <a:off x="6492240" y="51846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7C9CF0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3058" y="5325466"/>
            <a:ext cx="358445" cy="358445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7269480" y="51480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MCP connectors</a:t>
            </a:r>
            <a:endParaRPr lang="en-US" sz="1500" dirty="0"/>
          </a:p>
        </p:txBody>
      </p:sp>
      <p:sp>
        <p:nvSpPr>
          <p:cNvPr id="44" name="Text 35"/>
          <p:cNvSpPr/>
          <p:nvPr/>
        </p:nvSpPr>
        <p:spPr>
          <a:xfrm>
            <a:off x="7269480" y="5532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.mcp.json — tracker · wiki · knowledge · docs, per seat</a:t>
            </a:r>
            <a:endParaRPr lang="en-US" sz="1100" dirty="0"/>
          </a:p>
        </p:txBody>
      </p:sp>
      <p:sp>
        <p:nvSpPr>
          <p:cNvPr id="45" name="Text 36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46" name="Text 37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layer — ground, don't guess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sources are ingested into a queryable store. Agents answer from it and cite the source's trust tier — instead of guessing from memory.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3383280" cy="2331720"/>
          </a:xfrm>
          <a:prstGeom prst="roundRect">
            <a:avLst>
              <a:gd name="adj" fmla="val 2745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31546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9713" y="3325673"/>
            <a:ext cx="435254" cy="4352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4023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188720" y="446227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Docs, ADRs, standards, stakeholder input — frontmatter carries the trust tier.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45204" y="3611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4404208" y="2834640"/>
            <a:ext cx="3383280" cy="2331720"/>
          </a:xfrm>
          <a:prstGeom prst="roundRect">
            <a:avLst>
              <a:gd name="adj" fmla="val 2745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24248" y="31546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240" y="3325673"/>
            <a:ext cx="435254" cy="435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24248" y="4023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724248" y="446227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+ index (stub: keyword; prod: embeddings or a knowledge MCP server).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680731" y="3611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400" dirty="0"/>
          </a:p>
        </p:txBody>
      </p:sp>
      <p:sp>
        <p:nvSpPr>
          <p:cNvPr id="17" name="Shape 13"/>
          <p:cNvSpPr/>
          <p:nvPr/>
        </p:nvSpPr>
        <p:spPr>
          <a:xfrm>
            <a:off x="7939735" y="2834640"/>
            <a:ext cx="3383280" cy="2331720"/>
          </a:xfrm>
          <a:prstGeom prst="roundRect">
            <a:avLst>
              <a:gd name="adj" fmla="val 2745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59775" y="31546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3325673"/>
            <a:ext cx="435254" cy="435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59775" y="4023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KG / RAG / Vector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259775" y="446227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agents query for grounded, citable context.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68680" y="5486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9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scripts/knowledge/ingest.py — runnable on day one, no external services.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trust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tiers — what an AI may rely 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521208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331720"/>
            <a:ext cx="109728" cy="71323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450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Authoritative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383280" y="24780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directly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72968"/>
            <a:ext cx="521208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172968"/>
            <a:ext cx="109728" cy="713232"/>
          </a:xfrm>
          <a:prstGeom prst="rect">
            <a:avLst/>
          </a:prstGeom>
          <a:solidFill>
            <a:srgbClr val="7C9CF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291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33192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+ status flag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014216"/>
            <a:ext cx="521208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014216"/>
            <a:ext cx="109728" cy="713232"/>
          </a:xfrm>
          <a:prstGeom prst="rect">
            <a:avLst/>
          </a:prstGeom>
          <a:solidFill>
            <a:srgbClr val="9AA6C2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4160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if named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855464"/>
            <a:ext cx="521208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855464"/>
            <a:ext cx="109728" cy="713232"/>
          </a:xfrm>
          <a:prstGeom prst="rect">
            <a:avLst/>
          </a:prstGeom>
          <a:solidFill>
            <a:srgbClr val="5B6478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9743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Restricted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383280" y="50017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path-referenced only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Scoped-write MCP posture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5080" y="2331720"/>
            <a:ext cx="5029200" cy="102412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0" y="2532888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474" y="2669682"/>
            <a:ext cx="348204" cy="34820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360920" y="247802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canonical brief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360920" y="28346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is the single source of truth; CLAUDE.md is a thin pointer that can't drift.</a:t>
            </a:r>
            <a:endParaRPr lang="en-US" sz="1080" dirty="0"/>
          </a:p>
        </p:txBody>
      </p:sp>
      <p:sp>
        <p:nvSpPr>
          <p:cNvPr id="27" name="Shape 24"/>
          <p:cNvSpPr/>
          <p:nvPr/>
        </p:nvSpPr>
        <p:spPr>
          <a:xfrm>
            <a:off x="6355080" y="3493008"/>
            <a:ext cx="5029200" cy="102412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28" name="Shape 25"/>
          <p:cNvSpPr/>
          <p:nvPr/>
        </p:nvSpPr>
        <p:spPr>
          <a:xfrm>
            <a:off x="6583680" y="3694176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474" y="3830970"/>
            <a:ext cx="348204" cy="34820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360920" y="36393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Attributable, never silent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7360920" y="399592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write to a load-bearing artefact has a named seat and a reviewable trail.</a:t>
            </a:r>
            <a:endParaRPr lang="en-US" sz="1080" dirty="0"/>
          </a:p>
        </p:txBody>
      </p:sp>
      <p:sp>
        <p:nvSpPr>
          <p:cNvPr id="32" name="Shape 28"/>
          <p:cNvSpPr/>
          <p:nvPr/>
        </p:nvSpPr>
        <p:spPr>
          <a:xfrm>
            <a:off x="6355080" y="4654296"/>
            <a:ext cx="5029200" cy="102412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3" name="Shape 29"/>
          <p:cNvSpPr/>
          <p:nvPr/>
        </p:nvSpPr>
        <p:spPr>
          <a:xfrm>
            <a:off x="6583680" y="485546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474" y="4992258"/>
            <a:ext cx="348204" cy="348204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360920" y="4800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Humans hold the keys</a:t>
            </a:r>
            <a:endParaRPr lang="en-US" sz="1450" dirty="0"/>
          </a:p>
        </p:txBody>
      </p:sp>
      <p:sp>
        <p:nvSpPr>
          <p:cNvPr id="36" name="Text 31"/>
          <p:cNvSpPr/>
          <p:nvPr/>
        </p:nvSpPr>
        <p:spPr>
          <a:xfrm>
            <a:off x="7360920" y="515721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Promotion, sign-off, and merges to protected branches stay human.</a:t>
            </a:r>
            <a:endParaRPr lang="en-US" sz="1080" dirty="0"/>
          </a:p>
        </p:txBody>
      </p:sp>
      <p:sp>
        <p:nvSpPr>
          <p:cNvPr id="37" name="Text 32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for the AI framework — rules as scripts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rules are runnable scripts, enforced as merge gates. Local pre-commit gives fast feedback; CI is the non-bypassable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468880"/>
            <a:ext cx="3493008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468880"/>
            <a:ext cx="34930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" y="27889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0782" y="2949854"/>
            <a:ext cx="409651" cy="4096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69848" y="3675888"/>
            <a:ext cx="2944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validate-skills.py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69848" y="4096512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SKILL.md conforms to the agentskills.io spec.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17136" y="2468880"/>
            <a:ext cx="3493008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17136" y="2468880"/>
            <a:ext cx="34930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3" name="Shape 10"/>
          <p:cNvSpPr/>
          <p:nvPr/>
        </p:nvSpPr>
        <p:spPr>
          <a:xfrm>
            <a:off x="4809744" y="27889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678" y="2949854"/>
            <a:ext cx="409651" cy="40965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09744" y="3675888"/>
            <a:ext cx="2944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validate-frontmatter.py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809744" y="4096512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governed doc carries the maturity &amp; trust contract.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257032" y="2468880"/>
            <a:ext cx="3493008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57032" y="2468880"/>
            <a:ext cx="3493008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9" name="Shape 15"/>
          <p:cNvSpPr/>
          <p:nvPr/>
        </p:nvSpPr>
        <p:spPr>
          <a:xfrm>
            <a:off x="8549640" y="27889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0574" y="2949854"/>
            <a:ext cx="409651" cy="40965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49640" y="3675888"/>
            <a:ext cx="2944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commit_msg_ticket.py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49640" y="4096512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 references an issue key, linking code to work.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77240" y="4983480"/>
            <a:ext cx="10625328" cy="86868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24" name="Text 19"/>
          <p:cNvSpPr/>
          <p:nvPr/>
        </p:nvSpPr>
        <p:spPr>
          <a:xfrm>
            <a:off x="1005840" y="49834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scripts, two homes: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.pre-commit-config.yaml (fast, local) → .github/workflows/ai-governance.yml (enforced merge gate).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RITUAL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 → Edit → Pull Request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follows the same lightweight loop, so authorship and review stay consistent.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260604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834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9C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99616" y="3264408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0550" y="3425342"/>
            <a:ext cx="409651" cy="4096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408736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33272" y="44348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seat. Print branch &amp; sync state. Optional fast-forward.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2776690" y="34747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2983916" y="260604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2983916" y="2834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9C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614852" y="3264408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786" y="3425342"/>
            <a:ext cx="409651" cy="40965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83916" y="408736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148508" y="44348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from the knowledge layer; cite the source's trust tier.</a:t>
            </a:r>
            <a:endParaRPr lang="en-US" sz="980" dirty="0"/>
          </a:p>
        </p:txBody>
      </p:sp>
      <p:sp>
        <p:nvSpPr>
          <p:cNvPr id="18" name="Text 14"/>
          <p:cNvSpPr/>
          <p:nvPr/>
        </p:nvSpPr>
        <p:spPr>
          <a:xfrm>
            <a:off x="4891926" y="34747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5099152" y="260604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5099152" y="2834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9C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30088" y="3264408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022" y="3425342"/>
            <a:ext cx="409651" cy="409651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099152" y="408736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5263744" y="44348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a branch. Frontmatter: owner = seat, author = git.</a:t>
            </a:r>
            <a:endParaRPr lang="en-US" sz="980" dirty="0"/>
          </a:p>
        </p:txBody>
      </p:sp>
      <p:sp>
        <p:nvSpPr>
          <p:cNvPr id="25" name="Text 20"/>
          <p:cNvSpPr/>
          <p:nvPr/>
        </p:nvSpPr>
        <p:spPr>
          <a:xfrm>
            <a:off x="7007162" y="34747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1"/>
          <p:cNvSpPr/>
          <p:nvPr/>
        </p:nvSpPr>
        <p:spPr>
          <a:xfrm>
            <a:off x="7214387" y="260604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214387" y="2834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9C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7845323" y="3264408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6258" y="3425342"/>
            <a:ext cx="409651" cy="409651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214387" y="408736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7378979" y="44348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runs the governance checks before the commit lands.</a:t>
            </a:r>
            <a:endParaRPr lang="en-US" sz="980" dirty="0"/>
          </a:p>
        </p:txBody>
      </p:sp>
      <p:sp>
        <p:nvSpPr>
          <p:cNvPr id="32" name="Text 26"/>
          <p:cNvSpPr/>
          <p:nvPr/>
        </p:nvSpPr>
        <p:spPr>
          <a:xfrm>
            <a:off x="9122397" y="34747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33" name="Shape 27"/>
          <p:cNvSpPr/>
          <p:nvPr/>
        </p:nvSpPr>
        <p:spPr>
          <a:xfrm>
            <a:off x="9329623" y="260604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B2C5A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34" name="Text 28"/>
          <p:cNvSpPr/>
          <p:nvPr/>
        </p:nvSpPr>
        <p:spPr>
          <a:xfrm>
            <a:off x="9329623" y="2834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9C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Shape 29"/>
          <p:cNvSpPr/>
          <p:nvPr/>
        </p:nvSpPr>
        <p:spPr>
          <a:xfrm>
            <a:off x="9960559" y="3264408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1494" y="3425342"/>
            <a:ext cx="409651" cy="409651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329623" y="408736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Pull Request</a:t>
            </a:r>
            <a:endParaRPr lang="en-US" sz="1500" dirty="0"/>
          </a:p>
        </p:txBody>
      </p:sp>
      <p:sp>
        <p:nvSpPr>
          <p:cNvPr id="38" name="Text 31"/>
          <p:cNvSpPr/>
          <p:nvPr/>
        </p:nvSpPr>
        <p:spPr>
          <a:xfrm>
            <a:off x="9494215" y="443484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8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push branch, open a PR. Merge is human-reviewed.</a:t>
            </a:r>
            <a:endParaRPr lang="en-US" sz="980" dirty="0"/>
          </a:p>
        </p:txBody>
      </p:sp>
      <p:sp>
        <p:nvSpPr>
          <p:cNvPr id="39" name="Text 32"/>
          <p:cNvSpPr/>
          <p:nvPr/>
        </p:nvSpPr>
        <p:spPr>
          <a:xfrm>
            <a:off x="868680" y="5212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C9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never pushes a protected branch. Every change is attributable to a named seat.</a:t>
            </a:r>
            <a:endParaRPr lang="en-US" sz="1250" dirty="0"/>
          </a:p>
        </p:txBody>
      </p:sp>
      <p:sp>
        <p:nvSpPr>
          <p:cNvPr id="40" name="Text 33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utilization dashboard (DB + web) and a recurring retro turn AI usage into improvements to the rules, skills, and knowledge. The point is honest cost and quality — not surveillance.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606040"/>
            <a:ext cx="2542032" cy="155448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862072"/>
            <a:ext cx="2542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59359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5634" y="2606040"/>
            <a:ext cx="2542032" cy="155448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9" name="Text 7"/>
          <p:cNvSpPr/>
          <p:nvPr/>
        </p:nvSpPr>
        <p:spPr>
          <a:xfrm>
            <a:off x="3475634" y="2862072"/>
            <a:ext cx="2542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9C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$0.21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475634" y="359359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accepted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4029" y="2606040"/>
            <a:ext cx="2542032" cy="155448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12" name="Text 10"/>
          <p:cNvSpPr/>
          <p:nvPr/>
        </p:nvSpPr>
        <p:spPr>
          <a:xfrm>
            <a:off x="6174029" y="2862072"/>
            <a:ext cx="2542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79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174029" y="359359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rate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72423" y="2606040"/>
            <a:ext cx="2542032" cy="155448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15" name="Text 13"/>
          <p:cNvSpPr/>
          <p:nvPr/>
        </p:nvSpPr>
        <p:spPr>
          <a:xfrm>
            <a:off x="8872423" y="2862072"/>
            <a:ext cx="2542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872423" y="359359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rate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526280"/>
            <a:ext cx="10625328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05840" y="480060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833" y="4971593"/>
            <a:ext cx="435254" cy="43525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965960" y="473659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 → Measure → Review → Improve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965960" y="5175504"/>
            <a:ext cx="923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retro leaves a diff: a sharper skill description, a new knowledge source, a tightened — or removed — rule.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Adopt it in one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6035040" cy="22860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11680"/>
            <a:ext cx="146304" cy="146304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1170432" y="2011680"/>
            <a:ext cx="146304" cy="146304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380744" y="2011680"/>
            <a:ext cx="146304" cy="146304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7744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template/scripts/bootstrap.sh \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--name "Acme Wallet" --slug acme-wallet \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--dir ../acme-wallet --ticket ACME --host github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5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copied template  ✓ substituted placeholders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5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git init + commit  ✓ installed hooks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370832" cy="1024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242048" y="2029968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8842" y="2166762"/>
            <a:ext cx="348204" cy="3482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01000" y="1975104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Bootstrap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001000" y="2340864"/>
            <a:ext cx="3273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script scaffolds a governed, AI-ready repo.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7040880" y="2962656"/>
            <a:ext cx="4370832" cy="1024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242048" y="31638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842" y="3300618"/>
            <a:ext cx="348204" cy="3482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001000" y="31089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 placeholders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8001000" y="3474720"/>
            <a:ext cx="3273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§1 mission, §3 constraints, §4 connectors.</a:t>
            </a:r>
            <a:endParaRPr lang="en-US" sz="1080" dirty="0"/>
          </a:p>
        </p:txBody>
      </p:sp>
      <p:sp>
        <p:nvSpPr>
          <p:cNvPr id="19" name="Shape 15"/>
          <p:cNvSpPr/>
          <p:nvPr/>
        </p:nvSpPr>
        <p:spPr>
          <a:xfrm>
            <a:off x="7040880" y="4096512"/>
            <a:ext cx="4370832" cy="1024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242048" y="429768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842" y="4434474"/>
            <a:ext cx="348204" cy="34820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001000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001000" y="4608576"/>
            <a:ext cx="3273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Claude Code — it runs ONBOARDING.md.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7040880" y="5230368"/>
            <a:ext cx="4370832" cy="1024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242048" y="5431536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F1B3D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8842" y="5568330"/>
            <a:ext cx="348204" cy="34820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001000" y="537667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8001000" y="5742432"/>
            <a:ext cx="3273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knowledge sources and ship — gated from day one.</a:t>
            </a:r>
            <a:endParaRPr lang="en-US" sz="1080" dirty="0"/>
          </a:p>
        </p:txBody>
      </p:sp>
      <p:sp>
        <p:nvSpPr>
          <p:cNvPr id="29" name="Text 23"/>
          <p:cNvSpPr/>
          <p:nvPr/>
        </p:nvSpPr>
        <p:spPr>
          <a:xfrm>
            <a:off x="777240" y="4343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gates locally: python3 scripts/validate-skills.py · validate-frontmatter.py · knowledge/ingest.py --build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185855" y="64373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291840"/>
            <a:ext cx="5943600" cy="5943600"/>
          </a:xfrm>
          <a:prstGeom prst="ellipse">
            <a:avLst/>
          </a:prstGeom>
          <a:solidFill>
            <a:srgbClr val="1B2C5A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377440"/>
            <a:ext cx="5029200" cy="5029200"/>
          </a:xfrm>
          <a:prstGeom prst="ellipse">
            <a:avLst/>
          </a:prstGeom>
          <a:solidFill>
            <a:srgbClr val="16224A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051560"/>
            <a:ext cx="960120" cy="960120"/>
          </a:xfrm>
          <a:prstGeom prst="roundRect">
            <a:avLst>
              <a:gd name="adj" fmla="val 9524"/>
            </a:avLst>
          </a:prstGeom>
          <a:solidFill>
            <a:srgbClr val="2DD4BF"/>
          </a:solidFill>
          <a:ln/>
          <a:effectLst>
            <a:outerShdw sx="100000" sy="100000" kx="0" ky="0" algn="bl" rotWithShape="0" blurRad="114300" dist="38100" dir="8100000">
              <a:srgbClr val="0B1330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906" y="1262786"/>
            <a:ext cx="537667" cy="5376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4028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 a first-class,</a:t>
            </a:r>
            <a:endParaRPr lang="en-US" sz="4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governed collaborator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868680" y="4160520"/>
            <a:ext cx="1490472" cy="566928"/>
          </a:xfrm>
          <a:prstGeom prst="roundRect">
            <a:avLst>
              <a:gd name="adj" fmla="val 50000"/>
            </a:avLst>
          </a:prstGeom>
          <a:solidFill>
            <a:srgbClr val="1B2C5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41605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633472" y="4160520"/>
            <a:ext cx="1984248" cy="566928"/>
          </a:xfrm>
          <a:prstGeom prst="roundRect">
            <a:avLst>
              <a:gd name="adj" fmla="val 50000"/>
            </a:avLst>
          </a:prstGeom>
          <a:solidFill>
            <a:srgbClr val="1B2C5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33472" y="4160520"/>
            <a:ext cx="1984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Attributable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92040" y="4160520"/>
            <a:ext cx="1120140" cy="566928"/>
          </a:xfrm>
          <a:prstGeom prst="roundRect">
            <a:avLst>
              <a:gd name="adj" fmla="val 50000"/>
            </a:avLst>
          </a:prstGeom>
          <a:solidFill>
            <a:srgbClr val="1B2C5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4160520"/>
            <a:ext cx="11201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86500" y="4160520"/>
            <a:ext cx="1860804" cy="566928"/>
          </a:xfrm>
          <a:prstGeom prst="roundRect">
            <a:avLst>
              <a:gd name="adj" fmla="val 50000"/>
            </a:avLst>
          </a:prstGeom>
          <a:solidFill>
            <a:srgbClr val="1B2C5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86500" y="4160520"/>
            <a:ext cx="18608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Human-owned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a governed AI-SDLC into your next repo in one command.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6868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9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AI-SDLC Bootstrap Kit  ·  README.md → docs/SPEC.md → template/AGENTS.md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AI-SDLC Bootstrap Kit</dc:title>
  <dc:subject>PptxGenJS Presentation</dc:subject>
  <dc:creator>AI-SDLC Bootstrap Kit</dc:creator>
  <cp:lastModifiedBy>AI-SDLC Bootstrap Kit</cp:lastModifiedBy>
  <cp:revision>1</cp:revision>
  <dcterms:created xsi:type="dcterms:W3CDTF">2026-06-26T06:19:59Z</dcterms:created>
  <dcterms:modified xsi:type="dcterms:W3CDTF">2026-06-26T06:19:59Z</dcterms:modified>
</cp:coreProperties>
</file>